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last line with your actual details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The panel does not need convincing that distress happens; they need to see you have a specific, well-defined signal to detect.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If the panel understands only one thing, make it this distinction.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'why no results yet?'. Answer with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strongest slide. It shows diligence rather than output, which is exactly what a first review should demonstrate.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A3C"/>
        </a:solidFill>
      </p:bgPr>
    </p:bg>
    <p:spTree>
      <p:nvGrpSpPr>
        <p:cNvPr id="1" name=""/>
        <p:cNvGrpSpPr/>
        <p:nvPr/>
      </p:nvGrpSpPr>
      <p:grpSpPr>
        <a:xfrm>
          <a:off x="0" y="0"/>
          <a:ext cx="0" cy="0"/>
          <a:chOff x="0" y="0"/>
          <a:chExt cx="0" cy="0"/>
        </a:xfrm>
      </p:grpSpPr>
      <p:sp>
        <p:nvSpPr>
          <p:cNvPr id="2" name="Text 0"/>
          <p:cNvSpPr txBox="1"/>
          <p:nvPr/>
        </p:nvSpPr>
        <p:spPr>
          <a:xfrm>
            <a:off x="566928" y="1828800"/>
            <a:ext cx="10515600" cy="548640"/>
          </a:xfrm>
          <a:prstGeom prst="rect">
            <a:avLst/>
          </a:prstGeom>
          <a:noFill/>
          <a:ln/>
        </p:spPr>
        <p:txBody>
          <a:bodyPr wrap="square" lIns="0" tIns="0" rIns="0" bIns="0" rtlCol="0" anchor="ctr"/>
          <a:lstStyle/>
          <a:p>
            <a:pPr indent="0" marL="0">
              <a:buNone/>
            </a:pPr>
            <a:r>
              <a:rPr lang="en-US" sz="3000" dirty="0">
                <a:solidFill>
                  <a:srgbClr val="CADCFC"/>
                </a:solidFill>
                <a:latin typeface="Cambria" pitchFamily="34" charset="0"/>
                <a:ea typeface="Cambria" pitchFamily="34" charset="-122"/>
                <a:cs typeface="Cambria" pitchFamily="34" charset="-120"/>
              </a:rPr>
              <a:t>Online Temporal Action Detection for</a:t>
            </a:r>
            <a:endParaRPr lang="en-US" sz="3000" dirty="0"/>
          </a:p>
        </p:txBody>
      </p:sp>
      <p:sp>
        <p:nvSpPr>
          <p:cNvPr id="3" name="Text 1"/>
          <p:cNvSpPr txBox="1"/>
          <p:nvPr/>
        </p:nvSpPr>
        <p:spPr>
          <a:xfrm>
            <a:off x="566928" y="2395728"/>
            <a:ext cx="1051560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Distress Hand Signals in Continuous Video</a:t>
            </a:r>
            <a:endParaRPr lang="en-US" sz="3800" dirty="0"/>
          </a:p>
        </p:txBody>
      </p:sp>
      <p:sp>
        <p:nvSpPr>
          <p:cNvPr id="4" name="Shape 2"/>
          <p:cNvSpPr/>
          <p:nvPr/>
        </p:nvSpPr>
        <p:spPr>
          <a:xfrm>
            <a:off x="566928" y="3456432"/>
            <a:ext cx="155448" cy="155448"/>
          </a:xfrm>
          <a:prstGeom prst="ellipse">
            <a:avLst/>
          </a:prstGeom>
          <a:solidFill>
            <a:srgbClr val="D7263D"/>
          </a:solidFill>
          <a:ln w="12700">
            <a:solidFill>
              <a:srgbClr val="D7263D"/>
            </a:solidFill>
            <a:prstDash val="solid"/>
          </a:ln>
        </p:spPr>
      </p:sp>
      <p:sp>
        <p:nvSpPr>
          <p:cNvPr id="5" name="Text 3"/>
          <p:cNvSpPr txBox="1"/>
          <p:nvPr/>
        </p:nvSpPr>
        <p:spPr>
          <a:xfrm>
            <a:off x="859536" y="3364992"/>
            <a:ext cx="8229600" cy="36576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M.Tech Thesis  ·  First Review Presentation</a:t>
            </a:r>
            <a:endParaRPr lang="en-US" sz="1500" dirty="0"/>
          </a:p>
        </p:txBody>
      </p:sp>
      <p:sp>
        <p:nvSpPr>
          <p:cNvPr id="6" name="Text 4"/>
          <p:cNvSpPr txBox="1"/>
          <p:nvPr/>
        </p:nvSpPr>
        <p:spPr>
          <a:xfrm>
            <a:off x="566928" y="5394960"/>
            <a:ext cx="10515600" cy="365760"/>
          </a:xfrm>
          <a:prstGeom prst="rect">
            <a:avLst/>
          </a:prstGeom>
          <a:noFill/>
          <a:ln/>
        </p:spPr>
        <p:txBody>
          <a:bodyPr wrap="square" lIns="0" tIns="0" rIns="0" bIns="0" rtlCol="0" anchor="ctr"/>
          <a:lstStyle/>
          <a:p>
            <a:pPr indent="0" marL="0">
              <a:buNone/>
            </a:pPr>
            <a:r>
              <a:rPr lang="en-US" sz="1300" i="1" dirty="0">
                <a:solidFill>
                  <a:srgbClr val="8FA3C4"/>
                </a:solidFill>
                <a:latin typeface="Calibri" pitchFamily="34" charset="0"/>
                <a:ea typeface="Calibri" pitchFamily="34" charset="-122"/>
                <a:cs typeface="Calibri" pitchFamily="34" charset="-120"/>
              </a:rPr>
              <a:t>Name  ·  Roll number  ·  Supervisor  ·  Department, Institution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00" b="1" spc="200" kern="0" dirty="0">
                <a:solidFill>
                  <a:srgbClr val="D7263D"/>
                </a:solidFill>
                <a:latin typeface="Calibri" pitchFamily="34" charset="0"/>
                <a:ea typeface="Calibri" pitchFamily="34" charset="-122"/>
                <a:cs typeface="Calibri" pitchFamily="34" charset="-120"/>
              </a:rPr>
              <a:t>MOTIVATION</a:t>
            </a:r>
            <a:endParaRPr lang="en-US" sz="1100" dirty="0"/>
          </a:p>
        </p:txBody>
      </p:sp>
      <p:sp>
        <p:nvSpPr>
          <p:cNvPr id="3" name="Text 1"/>
          <p:cNvSpPr txBox="1"/>
          <p:nvPr/>
        </p:nvSpPr>
        <p:spPr>
          <a:xfrm>
            <a:off x="566928" y="640080"/>
            <a:ext cx="11055096" cy="89611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 person in danger often cannot speak</a:t>
            </a:r>
            <a:endParaRPr lang="en-US" sz="3200" dirty="0"/>
          </a:p>
        </p:txBody>
      </p:sp>
      <p:sp>
        <p:nvSpPr>
          <p:cNvPr id="4" name="Shape 2"/>
          <p:cNvSpPr/>
          <p:nvPr/>
        </p:nvSpPr>
        <p:spPr>
          <a:xfrm>
            <a:off x="566928" y="1828800"/>
            <a:ext cx="6035040" cy="914400"/>
          </a:xfrm>
          <a:prstGeom prst="roundRect">
            <a:avLst>
              <a:gd name="adj" fmla="val 8000"/>
            </a:avLst>
          </a:prstGeom>
          <a:solidFill>
            <a:srgbClr val="F2F5FA"/>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5" name="Shape 3"/>
          <p:cNvSpPr/>
          <p:nvPr/>
        </p:nvSpPr>
        <p:spPr>
          <a:xfrm>
            <a:off x="804672" y="2093976"/>
            <a:ext cx="384048" cy="384048"/>
          </a:xfrm>
          <a:prstGeom prst="ellipse">
            <a:avLst/>
          </a:prstGeom>
          <a:solidFill>
            <a:srgbClr val="1E2761"/>
          </a:solidFill>
          <a:ln w="12700">
            <a:solidFill>
              <a:srgbClr val="1E2761"/>
            </a:solidFill>
            <a:prstDash val="solid"/>
          </a:ln>
        </p:spPr>
      </p:sp>
      <p:sp>
        <p:nvSpPr>
          <p:cNvPr id="6" name="Text 4"/>
          <p:cNvSpPr txBox="1"/>
          <p:nvPr/>
        </p:nvSpPr>
        <p:spPr>
          <a:xfrm>
            <a:off x="804672" y="209397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353312" y="1975104"/>
            <a:ext cx="5029200"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Under observation</a:t>
            </a:r>
            <a:endParaRPr lang="en-US" sz="1500" dirty="0"/>
          </a:p>
        </p:txBody>
      </p:sp>
      <p:sp>
        <p:nvSpPr>
          <p:cNvPr id="8" name="Text 6"/>
          <p:cNvSpPr txBox="1"/>
          <p:nvPr/>
        </p:nvSpPr>
        <p:spPr>
          <a:xfrm>
            <a:off x="1353312" y="2286000"/>
            <a:ext cx="5029200" cy="329184"/>
          </a:xfrm>
          <a:prstGeom prst="rect">
            <a:avLst/>
          </a:prstGeom>
          <a:noFill/>
          <a:ln/>
        </p:spPr>
        <p:txBody>
          <a:bodyPr wrap="square" lIns="0" tIns="0" rIns="0" bIns="0" rtlCol="0" anchor="ctr"/>
          <a:lstStyle/>
          <a:p>
            <a:pPr indent="0" marL="0">
              <a:buNone/>
            </a:pPr>
            <a:r>
              <a:rPr lang="en-US" sz="1200" dirty="0">
                <a:solidFill>
                  <a:srgbClr val="5B6572"/>
                </a:solidFill>
                <a:latin typeface="Calibri" pitchFamily="34" charset="0"/>
                <a:ea typeface="Calibri" pitchFamily="34" charset="-122"/>
                <a:cs typeface="Calibri" pitchFamily="34" charset="-120"/>
              </a:rPr>
              <a:t>The person threatening them is present and watching.</a:t>
            </a:r>
            <a:endParaRPr lang="en-US" sz="1200" dirty="0"/>
          </a:p>
        </p:txBody>
      </p:sp>
      <p:sp>
        <p:nvSpPr>
          <p:cNvPr id="9" name="Shape 7"/>
          <p:cNvSpPr/>
          <p:nvPr/>
        </p:nvSpPr>
        <p:spPr>
          <a:xfrm>
            <a:off x="566928" y="2907792"/>
            <a:ext cx="6035040" cy="914400"/>
          </a:xfrm>
          <a:prstGeom prst="roundRect">
            <a:avLst>
              <a:gd name="adj" fmla="val 8000"/>
            </a:avLst>
          </a:prstGeom>
          <a:solidFill>
            <a:srgbClr val="F2F5FA"/>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10" name="Shape 8"/>
          <p:cNvSpPr/>
          <p:nvPr/>
        </p:nvSpPr>
        <p:spPr>
          <a:xfrm>
            <a:off x="804672" y="3172968"/>
            <a:ext cx="384048" cy="384048"/>
          </a:xfrm>
          <a:prstGeom prst="ellipse">
            <a:avLst/>
          </a:prstGeom>
          <a:solidFill>
            <a:srgbClr val="1E2761"/>
          </a:solidFill>
          <a:ln w="12700">
            <a:solidFill>
              <a:srgbClr val="1E2761"/>
            </a:solidFill>
            <a:prstDash val="solid"/>
          </a:ln>
        </p:spPr>
      </p:sp>
      <p:sp>
        <p:nvSpPr>
          <p:cNvPr id="11" name="Text 9"/>
          <p:cNvSpPr txBox="1"/>
          <p:nvPr/>
        </p:nvSpPr>
        <p:spPr>
          <a:xfrm>
            <a:off x="804672" y="31729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1353312" y="3054096"/>
            <a:ext cx="5029200"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No privacy</a:t>
            </a:r>
            <a:endParaRPr lang="en-US" sz="1500" dirty="0"/>
          </a:p>
        </p:txBody>
      </p:sp>
      <p:sp>
        <p:nvSpPr>
          <p:cNvPr id="13" name="Text 11"/>
          <p:cNvSpPr txBox="1"/>
          <p:nvPr/>
        </p:nvSpPr>
        <p:spPr>
          <a:xfrm>
            <a:off x="1353312" y="3364992"/>
            <a:ext cx="5029200" cy="329184"/>
          </a:xfrm>
          <a:prstGeom prst="rect">
            <a:avLst/>
          </a:prstGeom>
          <a:noFill/>
          <a:ln/>
        </p:spPr>
        <p:txBody>
          <a:bodyPr wrap="square" lIns="0" tIns="0" rIns="0" bIns="0" rtlCol="0" anchor="ctr"/>
          <a:lstStyle/>
          <a:p>
            <a:pPr indent="0" marL="0">
              <a:buNone/>
            </a:pPr>
            <a:r>
              <a:rPr lang="en-US" sz="1200" dirty="0">
                <a:solidFill>
                  <a:srgbClr val="5B6572"/>
                </a:solidFill>
                <a:latin typeface="Calibri" pitchFamily="34" charset="0"/>
                <a:ea typeface="Calibri" pitchFamily="34" charset="-122"/>
                <a:cs typeface="Calibri" pitchFamily="34" charset="-120"/>
              </a:rPr>
              <a:t>A public space where a phone call would be overheard.</a:t>
            </a:r>
            <a:endParaRPr lang="en-US" sz="1200" dirty="0"/>
          </a:p>
        </p:txBody>
      </p:sp>
      <p:sp>
        <p:nvSpPr>
          <p:cNvPr id="14" name="Shape 12"/>
          <p:cNvSpPr/>
          <p:nvPr/>
        </p:nvSpPr>
        <p:spPr>
          <a:xfrm>
            <a:off x="566928" y="3986784"/>
            <a:ext cx="6035040" cy="914400"/>
          </a:xfrm>
          <a:prstGeom prst="roundRect">
            <a:avLst>
              <a:gd name="adj" fmla="val 8000"/>
            </a:avLst>
          </a:prstGeom>
          <a:solidFill>
            <a:srgbClr val="F2F5FA"/>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15" name="Shape 13"/>
          <p:cNvSpPr/>
          <p:nvPr/>
        </p:nvSpPr>
        <p:spPr>
          <a:xfrm>
            <a:off x="804672" y="4251960"/>
            <a:ext cx="384048" cy="384048"/>
          </a:xfrm>
          <a:prstGeom prst="ellipse">
            <a:avLst/>
          </a:prstGeom>
          <a:solidFill>
            <a:srgbClr val="1E2761"/>
          </a:solidFill>
          <a:ln w="12700">
            <a:solidFill>
              <a:srgbClr val="1E2761"/>
            </a:solidFill>
            <a:prstDash val="solid"/>
          </a:ln>
        </p:spPr>
      </p:sp>
      <p:sp>
        <p:nvSpPr>
          <p:cNvPr id="16" name="Text 14"/>
          <p:cNvSpPr txBox="1"/>
          <p:nvPr/>
        </p:nvSpPr>
        <p:spPr>
          <a:xfrm>
            <a:off x="804672" y="42519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353312" y="4133088"/>
            <a:ext cx="5029200"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Physically prevented</a:t>
            </a:r>
            <a:endParaRPr lang="en-US" sz="1500" dirty="0"/>
          </a:p>
        </p:txBody>
      </p:sp>
      <p:sp>
        <p:nvSpPr>
          <p:cNvPr id="18" name="Text 16"/>
          <p:cNvSpPr txBox="1"/>
          <p:nvPr/>
        </p:nvSpPr>
        <p:spPr>
          <a:xfrm>
            <a:off x="1353312" y="4443984"/>
            <a:ext cx="5029200" cy="329184"/>
          </a:xfrm>
          <a:prstGeom prst="rect">
            <a:avLst/>
          </a:prstGeom>
          <a:noFill/>
          <a:ln/>
        </p:spPr>
        <p:txBody>
          <a:bodyPr wrap="square" lIns="0" tIns="0" rIns="0" bIns="0" rtlCol="0" anchor="ctr"/>
          <a:lstStyle/>
          <a:p>
            <a:pPr indent="0" marL="0">
              <a:buNone/>
            </a:pPr>
            <a:r>
              <a:rPr lang="en-US" sz="1200" dirty="0">
                <a:solidFill>
                  <a:srgbClr val="5B6572"/>
                </a:solidFill>
                <a:latin typeface="Calibri" pitchFamily="34" charset="0"/>
                <a:ea typeface="Calibri" pitchFamily="34" charset="-122"/>
                <a:cs typeface="Calibri" pitchFamily="34" charset="-120"/>
              </a:rPr>
              <a:t>Unable to reach a phone or speak freely.</a:t>
            </a:r>
            <a:endParaRPr lang="en-US" sz="1200" dirty="0"/>
          </a:p>
        </p:txBody>
      </p:sp>
      <p:sp>
        <p:nvSpPr>
          <p:cNvPr id="19" name="Shape 17"/>
          <p:cNvSpPr/>
          <p:nvPr/>
        </p:nvSpPr>
        <p:spPr>
          <a:xfrm>
            <a:off x="6949440" y="1828800"/>
            <a:ext cx="4663440" cy="3072384"/>
          </a:xfrm>
          <a:prstGeom prst="roundRect">
            <a:avLst>
              <a:gd name="adj" fmla="val 2381"/>
            </a:avLst>
          </a:prstGeom>
          <a:solidFill>
            <a:srgbClr val="1E2761"/>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20" name="Text 18"/>
          <p:cNvSpPr txBox="1"/>
          <p:nvPr/>
        </p:nvSpPr>
        <p:spPr>
          <a:xfrm>
            <a:off x="7223760" y="2148840"/>
            <a:ext cx="4114800" cy="914400"/>
          </a:xfrm>
          <a:prstGeom prst="rect">
            <a:avLst/>
          </a:prstGeom>
          <a:noFill/>
          <a:ln/>
        </p:spPr>
        <p:txBody>
          <a:bodyPr wrap="square" lIns="0" tIns="0" rIns="0" bIns="0" rtlCol="0" anchor="ctr"/>
          <a:lstStyle/>
          <a:p>
            <a:pPr indent="0" marL="0">
              <a:lnSpc>
                <a:spcPts val="2800"/>
              </a:lnSpc>
              <a:buNone/>
            </a:pPr>
            <a:r>
              <a:rPr lang="en-US" sz="2100" b="1" dirty="0">
                <a:solidFill>
                  <a:srgbClr val="FFFFFF"/>
                </a:solidFill>
                <a:latin typeface="Cambria" pitchFamily="34" charset="0"/>
                <a:ea typeface="Cambria" pitchFamily="34" charset="-122"/>
                <a:cs typeface="Cambria" pitchFamily="34" charset="-120"/>
              </a:rPr>
              <a:t>A silent hand gesture</a:t>
            </a:r>
            <a:endParaRPr lang="en-US" sz="2100" dirty="0"/>
          </a:p>
          <a:p>
            <a:pPr indent="0" marL="0">
              <a:lnSpc>
                <a:spcPts val="2800"/>
              </a:lnSpc>
              <a:buNone/>
            </a:pPr>
            <a:r>
              <a:rPr lang="en-US" sz="2100" b="1" dirty="0">
                <a:solidFill>
                  <a:srgbClr val="FFFFFF"/>
                </a:solidFill>
                <a:latin typeface="Cambria" pitchFamily="34" charset="0"/>
                <a:ea typeface="Cambria" pitchFamily="34" charset="-122"/>
                <a:cs typeface="Cambria" pitchFamily="34" charset="-120"/>
              </a:rPr>
              <a:t>is the only channel left</a:t>
            </a:r>
            <a:endParaRPr lang="en-US" sz="2100" dirty="0"/>
          </a:p>
        </p:txBody>
      </p:sp>
      <p:sp>
        <p:nvSpPr>
          <p:cNvPr id="21" name="Text 19"/>
          <p:cNvSpPr txBox="1"/>
          <p:nvPr/>
        </p:nvSpPr>
        <p:spPr>
          <a:xfrm>
            <a:off x="7223760" y="3200400"/>
            <a:ext cx="4114800" cy="91440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The “Signal for Help” gesture was introduced in 2020 as a one-handed, speech-free indication of domestic distress.</a:t>
            </a:r>
            <a:endParaRPr lang="en-US" sz="1300" dirty="0"/>
          </a:p>
        </p:txBody>
      </p:sp>
      <p:sp>
        <p:nvSpPr>
          <p:cNvPr id="22" name="Text 20"/>
          <p:cNvSpPr txBox="1"/>
          <p:nvPr/>
        </p:nvSpPr>
        <p:spPr>
          <a:xfrm>
            <a:off x="7223760" y="4315968"/>
            <a:ext cx="4114800" cy="365760"/>
          </a:xfrm>
          <a:prstGeom prst="rect">
            <a:avLst/>
          </a:prstGeom>
          <a:noFill/>
          <a:ln/>
        </p:spPr>
        <p:txBody>
          <a:bodyPr wrap="square" lIns="0" tIns="0" rIns="0" bIns="0" rtlCol="0" anchor="ctr"/>
          <a:lstStyle/>
          <a:p>
            <a:pPr indent="0" marL="0">
              <a:buNone/>
            </a:pPr>
            <a:r>
              <a:rPr lang="en-US" sz="1000" i="1" dirty="0">
                <a:solidFill>
                  <a:srgbClr val="8FA3C4"/>
                </a:solidFill>
                <a:latin typeface="Calibri" pitchFamily="34" charset="0"/>
                <a:ea typeface="Calibri" pitchFamily="34" charset="-122"/>
                <a:cs typeface="Calibri" pitchFamily="34" charset="-120"/>
              </a:rPr>
              <a:t>Verify and cite a source for this before presenting.</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00" b="1" spc="200" kern="0" dirty="0">
                <a:solidFill>
                  <a:srgbClr val="D7263D"/>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566928" y="640080"/>
            <a:ext cx="11055096" cy="89611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signal only works if someone is watching</a:t>
            </a:r>
            <a:endParaRPr lang="en-US" sz="3200" dirty="0"/>
          </a:p>
        </p:txBody>
      </p:sp>
      <p:sp>
        <p:nvSpPr>
          <p:cNvPr id="4" name="Text 2"/>
          <p:cNvSpPr txBox="1"/>
          <p:nvPr/>
        </p:nvSpPr>
        <p:spPr>
          <a:xfrm>
            <a:off x="566928" y="1627632"/>
            <a:ext cx="10881360" cy="54864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Its effectiveness depends entirely on a human being present, looking in the right direction, and knowing what the gesture means.</a:t>
            </a:r>
            <a:endParaRPr lang="en-US" sz="1600" dirty="0"/>
          </a:p>
        </p:txBody>
      </p:sp>
      <p:sp>
        <p:nvSpPr>
          <p:cNvPr id="5" name="Shape 3"/>
          <p:cNvSpPr/>
          <p:nvPr/>
        </p:nvSpPr>
        <p:spPr>
          <a:xfrm>
            <a:off x="566928" y="2468880"/>
            <a:ext cx="5303520" cy="1737360"/>
          </a:xfrm>
          <a:prstGeom prst="roundRect">
            <a:avLst>
              <a:gd name="adj" fmla="val 4211"/>
            </a:avLst>
          </a:prstGeom>
          <a:solidFill>
            <a:srgbClr val="F2F5FA"/>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6" name="Text 4"/>
          <p:cNvSpPr txBox="1"/>
          <p:nvPr/>
        </p:nvSpPr>
        <p:spPr>
          <a:xfrm>
            <a:off x="877824" y="2724912"/>
            <a:ext cx="4663440" cy="329184"/>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Already installed</a:t>
            </a:r>
            <a:endParaRPr lang="en-US" sz="1600" dirty="0"/>
          </a:p>
        </p:txBody>
      </p:sp>
      <p:sp>
        <p:nvSpPr>
          <p:cNvPr id="7" name="Text 5"/>
          <p:cNvSpPr txBox="1"/>
          <p:nvPr/>
        </p:nvSpPr>
        <p:spPr>
          <a:xfrm>
            <a:off x="877824" y="3127248"/>
            <a:ext cx="4663440" cy="822960"/>
          </a:xfrm>
          <a:prstGeom prst="rect">
            <a:avLst/>
          </a:prstGeom>
          <a:noFill/>
          <a:ln/>
        </p:spPr>
        <p:txBody>
          <a:bodyPr wrap="square" lIns="0" tIns="0" rIns="0" bIns="0" rtlCol="0" anchor="ctr"/>
          <a:lstStyle/>
          <a:p>
            <a:pPr indent="0" marL="0">
              <a:buNone/>
            </a:pPr>
            <a:r>
              <a:rPr lang="en-US" sz="1300" dirty="0">
                <a:solidFill>
                  <a:srgbClr val="5B6572"/>
                </a:solidFill>
                <a:latin typeface="Calibri" pitchFamily="34" charset="0"/>
                <a:ea typeface="Calibri" pitchFamily="34" charset="-122"/>
                <a:cs typeface="Calibri" pitchFamily="34" charset="-120"/>
              </a:rPr>
              <a:t>Camera infrastructure exists in the environments where such a signal would be made.</a:t>
            </a:r>
            <a:endParaRPr lang="en-US" sz="1300" dirty="0"/>
          </a:p>
        </p:txBody>
      </p:sp>
      <p:sp>
        <p:nvSpPr>
          <p:cNvPr id="8" name="Shape 6"/>
          <p:cNvSpPr/>
          <p:nvPr/>
        </p:nvSpPr>
        <p:spPr>
          <a:xfrm>
            <a:off x="6236208" y="2468880"/>
            <a:ext cx="5303520" cy="1737360"/>
          </a:xfrm>
          <a:prstGeom prst="roundRect">
            <a:avLst>
              <a:gd name="adj" fmla="val 4211"/>
            </a:avLst>
          </a:prstGeom>
          <a:solidFill>
            <a:srgbClr val="F2F5FA"/>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9" name="Text 7"/>
          <p:cNvSpPr txBox="1"/>
          <p:nvPr/>
        </p:nvSpPr>
        <p:spPr>
          <a:xfrm>
            <a:off x="6547104" y="2724912"/>
            <a:ext cx="4663440" cy="329184"/>
          </a:xfrm>
          <a:prstGeom prst="rect">
            <a:avLst/>
          </a:prstGeom>
          <a:noFill/>
          <a:ln/>
        </p:spPr>
        <p:txBody>
          <a:bodyPr wrap="square" lIns="0" tIns="0" rIns="0" bIns="0" rtlCol="0" anchor="ctr"/>
          <a:lstStyle/>
          <a:p>
            <a:pPr indent="0" marL="0">
              <a:buNone/>
            </a:pPr>
            <a:r>
              <a:rPr lang="en-US" sz="1600" b="1" dirty="0">
                <a:solidFill>
                  <a:srgbClr val="D7263D"/>
                </a:solidFill>
                <a:latin typeface="Calibri" pitchFamily="34" charset="0"/>
                <a:ea typeface="Calibri" pitchFamily="34" charset="-122"/>
                <a:cs typeface="Calibri" pitchFamily="34" charset="-120"/>
              </a:rPr>
              <a:t>Not interpreted</a:t>
            </a:r>
            <a:endParaRPr lang="en-US" sz="1600" dirty="0"/>
          </a:p>
        </p:txBody>
      </p:sp>
      <p:sp>
        <p:nvSpPr>
          <p:cNvPr id="10" name="Text 8"/>
          <p:cNvSpPr txBox="1"/>
          <p:nvPr/>
        </p:nvSpPr>
        <p:spPr>
          <a:xfrm>
            <a:off x="6547104" y="3127248"/>
            <a:ext cx="4663440" cy="822960"/>
          </a:xfrm>
          <a:prstGeom prst="rect">
            <a:avLst/>
          </a:prstGeom>
          <a:noFill/>
          <a:ln/>
        </p:spPr>
        <p:txBody>
          <a:bodyPr wrap="square" lIns="0" tIns="0" rIns="0" bIns="0" rtlCol="0" anchor="ctr"/>
          <a:lstStyle/>
          <a:p>
            <a:pPr indent="0" marL="0">
              <a:buNone/>
            </a:pPr>
            <a:r>
              <a:rPr lang="en-US" sz="1300" dirty="0">
                <a:solidFill>
                  <a:srgbClr val="5B6572"/>
                </a:solidFill>
                <a:latin typeface="Calibri" pitchFamily="34" charset="0"/>
                <a:ea typeface="Calibri" pitchFamily="34" charset="-122"/>
                <a:cs typeface="Calibri" pitchFamily="34" charset="-120"/>
              </a:rPr>
              <a:t>What is absent is the ability to recognise the signal automatically, in real time.</a:t>
            </a:r>
            <a:endParaRPr lang="en-US" sz="1300" dirty="0"/>
          </a:p>
        </p:txBody>
      </p:sp>
      <p:sp>
        <p:nvSpPr>
          <p:cNvPr id="11" name="Text 9"/>
          <p:cNvSpPr txBox="1"/>
          <p:nvPr/>
        </p:nvSpPr>
        <p:spPr>
          <a:xfrm>
            <a:off x="566928" y="4663440"/>
            <a:ext cx="10881360" cy="54864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This project addresses that gap: automatic detection of distress hand signals in a continuous video stream, in real time.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00" b="1" spc="200" kern="0" dirty="0">
                <a:solidFill>
                  <a:srgbClr val="D7263D"/>
                </a:solidFill>
                <a:latin typeface="Calibri" pitchFamily="34" charset="0"/>
                <a:ea typeface="Calibri" pitchFamily="34" charset="-122"/>
                <a:cs typeface="Calibri" pitchFamily="34" charset="-120"/>
              </a:rPr>
              <a:t>PROBLEM DEFINITION</a:t>
            </a:r>
            <a:endParaRPr lang="en-US" sz="1100" dirty="0"/>
          </a:p>
        </p:txBody>
      </p:sp>
      <p:sp>
        <p:nvSpPr>
          <p:cNvPr id="3" name="Text 1"/>
          <p:cNvSpPr txBox="1"/>
          <p:nvPr/>
        </p:nvSpPr>
        <p:spPr>
          <a:xfrm>
            <a:off x="566928" y="640080"/>
            <a:ext cx="11055096" cy="89611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Detection in a stream, not classification of a clip</a:t>
            </a:r>
            <a:endParaRPr lang="en-US" sz="3200" dirty="0"/>
          </a:p>
        </p:txBody>
      </p:sp>
      <p:sp>
        <p:nvSpPr>
          <p:cNvPr id="4" name="Shape 2"/>
          <p:cNvSpPr/>
          <p:nvPr/>
        </p:nvSpPr>
        <p:spPr>
          <a:xfrm>
            <a:off x="566928" y="1783080"/>
            <a:ext cx="3429000" cy="3291840"/>
          </a:xfrm>
          <a:prstGeom prst="roundRect">
            <a:avLst>
              <a:gd name="adj" fmla="val 2222"/>
            </a:avLst>
          </a:prstGeom>
          <a:solidFill>
            <a:srgbClr val="F2F5FA"/>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5" name="Text 3"/>
          <p:cNvSpPr txBox="1"/>
          <p:nvPr/>
        </p:nvSpPr>
        <p:spPr>
          <a:xfrm>
            <a:off x="804672" y="1993392"/>
            <a:ext cx="2926080" cy="32918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Action recognition</a:t>
            </a:r>
            <a:endParaRPr lang="en-US" sz="1500" dirty="0"/>
          </a:p>
        </p:txBody>
      </p:sp>
      <p:sp>
        <p:nvSpPr>
          <p:cNvPr id="6" name="Text 4"/>
          <p:cNvSpPr txBox="1"/>
          <p:nvPr/>
        </p:nvSpPr>
        <p:spPr>
          <a:xfrm>
            <a:off x="804672" y="2340864"/>
            <a:ext cx="3017520" cy="274320"/>
          </a:xfrm>
          <a:prstGeom prst="rect">
            <a:avLst/>
          </a:prstGeom>
          <a:noFill/>
          <a:ln/>
        </p:spPr>
        <p:txBody>
          <a:bodyPr wrap="square" lIns="0" tIns="0" rIns="0" bIns="0" rtlCol="0" anchor="ctr"/>
          <a:lstStyle/>
          <a:p>
            <a:pPr indent="0" marL="0">
              <a:buNone/>
            </a:pPr>
            <a:r>
              <a:rPr lang="en-US" sz="850" b="1" dirty="0">
                <a:solidFill>
                  <a:srgbClr val="97A3B6"/>
                </a:solidFill>
                <a:latin typeface="Calibri" pitchFamily="34" charset="0"/>
                <a:ea typeface="Calibri" pitchFamily="34" charset="-122"/>
                <a:cs typeface="Calibri" pitchFamily="34" charset="-120"/>
              </a:rPr>
              <a:t>G I V E N   A   C L I P</a:t>
            </a:r>
            <a:endParaRPr lang="en-US" sz="850" dirty="0"/>
          </a:p>
        </p:txBody>
      </p:sp>
      <p:sp>
        <p:nvSpPr>
          <p:cNvPr id="7" name="Text 5"/>
          <p:cNvSpPr txBox="1"/>
          <p:nvPr/>
        </p:nvSpPr>
        <p:spPr>
          <a:xfrm>
            <a:off x="804672" y="2697480"/>
            <a:ext cx="2971800" cy="210312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5B6572"/>
                </a:solidFill>
                <a:latin typeface="Calibri" pitchFamily="34" charset="0"/>
                <a:ea typeface="Calibri" pitchFamily="34" charset="-122"/>
                <a:cs typeface="Calibri" pitchFamily="34" charset="-120"/>
              </a:rPr>
              <a:t>Boundaries are given</a:t>
            </a:r>
            <a:endParaRPr lang="en-US" sz="1250" dirty="0"/>
          </a:p>
          <a:p>
            <a:pPr marL="342900" indent="-342900">
              <a:spcAft>
                <a:spcPts val="800"/>
              </a:spcAft>
              <a:buSzPct val="100000"/>
              <a:buChar char="•"/>
            </a:pPr>
            <a:r>
              <a:rPr lang="en-US" sz="1250" dirty="0">
                <a:solidFill>
                  <a:srgbClr val="5B6572"/>
                </a:solidFill>
                <a:latin typeface="Calibri" pitchFamily="34" charset="0"/>
                <a:ea typeface="Calibri" pitchFamily="34" charset="-122"/>
                <a:cs typeface="Calibri" pitchFamily="34" charset="-120"/>
              </a:rPr>
              <a:t>“What gesture is this?”</a:t>
            </a:r>
            <a:endParaRPr lang="en-US" sz="1250" dirty="0"/>
          </a:p>
          <a:p>
            <a:pPr marL="342900" indent="-342900">
              <a:spcAft>
                <a:spcPts val="800"/>
              </a:spcAft>
              <a:buSzPct val="100000"/>
              <a:buChar char="•"/>
            </a:pPr>
            <a:r>
              <a:rPr lang="en-US" sz="1250" dirty="0">
                <a:solidFill>
                  <a:srgbClr val="5B6572"/>
                </a:solidFill>
                <a:latin typeface="Calibri" pitchFamily="34" charset="0"/>
                <a:ea typeface="Calibri" pitchFamily="34" charset="-122"/>
                <a:cs typeface="Calibri" pitchFamily="34" charset="-120"/>
              </a:rPr>
              <a:t>Well studied</a:t>
            </a:r>
            <a:endParaRPr lang="en-US" sz="1250" dirty="0"/>
          </a:p>
        </p:txBody>
      </p:sp>
      <p:sp>
        <p:nvSpPr>
          <p:cNvPr id="8" name="Shape 6"/>
          <p:cNvSpPr/>
          <p:nvPr/>
        </p:nvSpPr>
        <p:spPr>
          <a:xfrm>
            <a:off x="4297680" y="1783080"/>
            <a:ext cx="3429000" cy="3291840"/>
          </a:xfrm>
          <a:prstGeom prst="roundRect">
            <a:avLst>
              <a:gd name="adj" fmla="val 2222"/>
            </a:avLst>
          </a:prstGeom>
          <a:solidFill>
            <a:srgbClr val="F2F5FA"/>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9" name="Text 7"/>
          <p:cNvSpPr txBox="1"/>
          <p:nvPr/>
        </p:nvSpPr>
        <p:spPr>
          <a:xfrm>
            <a:off x="4535424" y="1993392"/>
            <a:ext cx="2926080" cy="32918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Offline localisation</a:t>
            </a:r>
            <a:endParaRPr lang="en-US" sz="1500" dirty="0"/>
          </a:p>
        </p:txBody>
      </p:sp>
      <p:sp>
        <p:nvSpPr>
          <p:cNvPr id="10" name="Text 8"/>
          <p:cNvSpPr txBox="1"/>
          <p:nvPr/>
        </p:nvSpPr>
        <p:spPr>
          <a:xfrm>
            <a:off x="4535424" y="2340864"/>
            <a:ext cx="3017520" cy="274320"/>
          </a:xfrm>
          <a:prstGeom prst="rect">
            <a:avLst/>
          </a:prstGeom>
          <a:noFill/>
          <a:ln/>
        </p:spPr>
        <p:txBody>
          <a:bodyPr wrap="square" lIns="0" tIns="0" rIns="0" bIns="0" rtlCol="0" anchor="ctr"/>
          <a:lstStyle/>
          <a:p>
            <a:pPr indent="0" marL="0">
              <a:buNone/>
            </a:pPr>
            <a:r>
              <a:rPr lang="en-US" sz="850" b="1" dirty="0">
                <a:solidFill>
                  <a:srgbClr val="97A3B6"/>
                </a:solidFill>
                <a:latin typeface="Calibri" pitchFamily="34" charset="0"/>
                <a:ea typeface="Calibri" pitchFamily="34" charset="-122"/>
                <a:cs typeface="Calibri" pitchFamily="34" charset="-120"/>
              </a:rPr>
              <a:t>G I V E N   T H E   W H O L E   V I D E O</a:t>
            </a:r>
            <a:endParaRPr lang="en-US" sz="850" dirty="0"/>
          </a:p>
        </p:txBody>
      </p:sp>
      <p:sp>
        <p:nvSpPr>
          <p:cNvPr id="11" name="Text 9"/>
          <p:cNvSpPr txBox="1"/>
          <p:nvPr/>
        </p:nvSpPr>
        <p:spPr>
          <a:xfrm>
            <a:off x="4535424" y="2697480"/>
            <a:ext cx="2971800" cy="210312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5B6572"/>
                </a:solidFill>
                <a:latin typeface="Calibri" pitchFamily="34" charset="0"/>
                <a:ea typeface="Calibri" pitchFamily="34" charset="-122"/>
                <a:cs typeface="Calibri" pitchFamily="34" charset="-120"/>
              </a:rPr>
              <a:t>May refine using later frames</a:t>
            </a:r>
            <a:endParaRPr lang="en-US" sz="1250" dirty="0"/>
          </a:p>
          <a:p>
            <a:pPr marL="342900" indent="-342900">
              <a:spcAft>
                <a:spcPts val="800"/>
              </a:spcAft>
              <a:buSzPct val="100000"/>
              <a:buChar char="•"/>
            </a:pPr>
            <a:r>
              <a:rPr lang="en-US" sz="1250" dirty="0">
                <a:solidFill>
                  <a:srgbClr val="5B6572"/>
                </a:solidFill>
                <a:latin typeface="Calibri" pitchFamily="34" charset="0"/>
                <a:ea typeface="Calibri" pitchFamily="34" charset="-122"/>
                <a:cs typeface="Calibri" pitchFamily="34" charset="-120"/>
              </a:rPr>
              <a:t>Cannot wait for the video to end</a:t>
            </a:r>
            <a:endParaRPr lang="en-US" sz="1250" dirty="0"/>
          </a:p>
          <a:p>
            <a:pPr marL="342900" indent="-342900">
              <a:spcAft>
                <a:spcPts val="800"/>
              </a:spcAft>
              <a:buSzPct val="100000"/>
              <a:buChar char="•"/>
            </a:pPr>
            <a:r>
              <a:rPr lang="en-US" sz="1250" dirty="0">
                <a:solidFill>
                  <a:srgbClr val="5B6572"/>
                </a:solidFill>
                <a:latin typeface="Calibri" pitchFamily="34" charset="0"/>
                <a:ea typeface="Calibri" pitchFamily="34" charset="-122"/>
                <a:cs typeface="Calibri" pitchFamily="34" charset="-120"/>
              </a:rPr>
              <a:t>Not deployable</a:t>
            </a:r>
            <a:endParaRPr lang="en-US" sz="1250" dirty="0"/>
          </a:p>
        </p:txBody>
      </p:sp>
      <p:sp>
        <p:nvSpPr>
          <p:cNvPr id="12" name="Shape 10"/>
          <p:cNvSpPr/>
          <p:nvPr/>
        </p:nvSpPr>
        <p:spPr>
          <a:xfrm>
            <a:off x="8028432" y="1783080"/>
            <a:ext cx="3429000" cy="3291840"/>
          </a:xfrm>
          <a:prstGeom prst="roundRect">
            <a:avLst>
              <a:gd name="adj" fmla="val 2222"/>
            </a:avLst>
          </a:prstGeom>
          <a:solidFill>
            <a:srgbClr val="1E2761"/>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13" name="Text 11"/>
          <p:cNvSpPr txBox="1"/>
          <p:nvPr/>
        </p:nvSpPr>
        <p:spPr>
          <a:xfrm>
            <a:off x="8266176" y="1993392"/>
            <a:ext cx="29260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Online detection</a:t>
            </a:r>
            <a:endParaRPr lang="en-US" sz="1500" dirty="0"/>
          </a:p>
        </p:txBody>
      </p:sp>
      <p:sp>
        <p:nvSpPr>
          <p:cNvPr id="14" name="Text 12"/>
          <p:cNvSpPr txBox="1"/>
          <p:nvPr/>
        </p:nvSpPr>
        <p:spPr>
          <a:xfrm>
            <a:off x="8266176" y="2340864"/>
            <a:ext cx="3017520" cy="274320"/>
          </a:xfrm>
          <a:prstGeom prst="rect">
            <a:avLst/>
          </a:prstGeom>
          <a:noFill/>
          <a:ln/>
        </p:spPr>
        <p:txBody>
          <a:bodyPr wrap="square" lIns="0" tIns="0" rIns="0" bIns="0" rtlCol="0" anchor="ctr"/>
          <a:lstStyle/>
          <a:p>
            <a:pPr indent="0" marL="0">
              <a:buNone/>
            </a:pPr>
            <a:r>
              <a:rPr lang="en-US" sz="850" b="1" dirty="0">
                <a:solidFill>
                  <a:srgbClr val="CADCFC"/>
                </a:solidFill>
                <a:latin typeface="Calibri" pitchFamily="34" charset="0"/>
                <a:ea typeface="Calibri" pitchFamily="34" charset="-122"/>
                <a:cs typeface="Calibri" pitchFamily="34" charset="-120"/>
              </a:rPr>
              <a:t>G I V E N   A   S T R E A M</a:t>
            </a:r>
            <a:endParaRPr lang="en-US" sz="850" dirty="0"/>
          </a:p>
        </p:txBody>
      </p:sp>
      <p:sp>
        <p:nvSpPr>
          <p:cNvPr id="15" name="Text 13"/>
          <p:cNvSpPr txBox="1"/>
          <p:nvPr/>
        </p:nvSpPr>
        <p:spPr>
          <a:xfrm>
            <a:off x="8266176" y="2697480"/>
            <a:ext cx="2971800" cy="210312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CADCFC"/>
                </a:solidFill>
                <a:latin typeface="Calibri" pitchFamily="34" charset="0"/>
                <a:ea typeface="Calibri" pitchFamily="34" charset="-122"/>
                <a:cs typeface="Calibri" pitchFamily="34" charset="-120"/>
              </a:rPr>
              <a:t>No boundaries exist</a:t>
            </a:r>
            <a:endParaRPr lang="en-US" sz="1250" dirty="0"/>
          </a:p>
          <a:p>
            <a:pPr marL="342900" indent="-342900">
              <a:spcAft>
                <a:spcPts val="800"/>
              </a:spcAft>
              <a:buSzPct val="100000"/>
              <a:buChar char="•"/>
            </a:pPr>
            <a:r>
              <a:rPr lang="en-US" sz="1250" dirty="0">
                <a:solidFill>
                  <a:srgbClr val="CADCFC"/>
                </a:solidFill>
                <a:latin typeface="Calibri" pitchFamily="34" charset="0"/>
                <a:ea typeface="Calibri" pitchFamily="34" charset="-122"/>
                <a:cs typeface="Calibri" pitchFamily="34" charset="-120"/>
              </a:rPr>
              <a:t>“Is it happening right now?”</a:t>
            </a:r>
            <a:endParaRPr lang="en-US" sz="1250" dirty="0"/>
          </a:p>
          <a:p>
            <a:pPr marL="342900" indent="-342900">
              <a:spcAft>
                <a:spcPts val="800"/>
              </a:spcAft>
              <a:buSzPct val="100000"/>
              <a:buChar char="•"/>
            </a:pPr>
            <a:r>
              <a:rPr lang="en-US" sz="1250" dirty="0">
                <a:solidFill>
                  <a:srgbClr val="CADCFC"/>
                </a:solidFill>
                <a:latin typeface="Calibri" pitchFamily="34" charset="0"/>
                <a:ea typeface="Calibri" pitchFamily="34" charset="-122"/>
                <a:cs typeface="Calibri" pitchFamily="34" charset="-120"/>
              </a:rPr>
              <a:t>This work</a:t>
            </a:r>
            <a:endParaRPr lang="en-US" sz="1250" dirty="0"/>
          </a:p>
        </p:txBody>
      </p:sp>
      <p:sp>
        <p:nvSpPr>
          <p:cNvPr id="16" name="Text 14"/>
          <p:cNvSpPr txBox="1"/>
          <p:nvPr/>
        </p:nvSpPr>
        <p:spPr>
          <a:xfrm>
            <a:off x="566928" y="5285232"/>
            <a:ext cx="1088136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The model is never told where a gesture starts. Establishing that is most of the difficulty.</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00" b="1" spc="200" kern="0" dirty="0">
                <a:solidFill>
                  <a:srgbClr val="D7263D"/>
                </a:solidFill>
                <a:latin typeface="Calibri" pitchFamily="34" charset="0"/>
                <a:ea typeface="Calibri" pitchFamily="34" charset="-122"/>
                <a:cs typeface="Calibri" pitchFamily="34" charset="-120"/>
              </a:rPr>
              <a:t>WHY IT IS HARD</a:t>
            </a:r>
            <a:endParaRPr lang="en-US" sz="1100" dirty="0"/>
          </a:p>
        </p:txBody>
      </p:sp>
      <p:sp>
        <p:nvSpPr>
          <p:cNvPr id="3" name="Text 1"/>
          <p:cNvSpPr txBox="1"/>
          <p:nvPr/>
        </p:nvSpPr>
        <p:spPr>
          <a:xfrm>
            <a:off x="566928" y="640080"/>
            <a:ext cx="11055096" cy="89611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defining constraint: no peeking at the future</a:t>
            </a:r>
            <a:endParaRPr lang="en-US" sz="3200" dirty="0"/>
          </a:p>
        </p:txBody>
      </p:sp>
      <p:sp>
        <p:nvSpPr>
          <p:cNvPr id="4" name="Text 2"/>
          <p:cNvSpPr txBox="1"/>
          <p:nvPr/>
        </p:nvSpPr>
        <p:spPr>
          <a:xfrm>
            <a:off x="566928" y="1645920"/>
            <a:ext cx="10881360" cy="73152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During development the whole video file is available, so it is easy to write code that uses frame 510 to decide what is happening at frame 500. That model reports excellent accuracy and is useless in deployment — in a live camera, frame 510 has not happened yet.</a:t>
            </a:r>
            <a:endParaRPr lang="en-US" sz="1450" dirty="0"/>
          </a:p>
        </p:txBody>
      </p:sp>
      <p:sp>
        <p:nvSpPr>
          <p:cNvPr id="5" name="Shape 3"/>
          <p:cNvSpPr/>
          <p:nvPr/>
        </p:nvSpPr>
        <p:spPr>
          <a:xfrm>
            <a:off x="566928" y="2880360"/>
            <a:ext cx="6746443" cy="457200"/>
          </a:xfrm>
          <a:prstGeom prst="rect">
            <a:avLst/>
          </a:prstGeom>
          <a:solidFill>
            <a:srgbClr val="1E2761"/>
          </a:solidFill>
          <a:ln w="12700">
            <a:solidFill>
              <a:srgbClr val="1E2761"/>
            </a:solidFill>
            <a:prstDash val="solid"/>
          </a:ln>
        </p:spPr>
      </p:sp>
      <p:sp>
        <p:nvSpPr>
          <p:cNvPr id="6" name="Shape 4"/>
          <p:cNvSpPr/>
          <p:nvPr/>
        </p:nvSpPr>
        <p:spPr>
          <a:xfrm>
            <a:off x="7313371" y="2880360"/>
            <a:ext cx="4134917" cy="457200"/>
          </a:xfrm>
          <a:prstGeom prst="rect">
            <a:avLst/>
          </a:prstGeom>
          <a:solidFill>
            <a:srgbClr val="E8EDF5"/>
          </a:solidFill>
          <a:ln w="12700">
            <a:solidFill>
              <a:srgbClr val="D5DEEC"/>
            </a:solidFill>
            <a:prstDash val="solid"/>
          </a:ln>
        </p:spPr>
      </p:sp>
      <p:sp>
        <p:nvSpPr>
          <p:cNvPr id="7" name="Text 5"/>
          <p:cNvSpPr txBox="1"/>
          <p:nvPr/>
        </p:nvSpPr>
        <p:spPr>
          <a:xfrm>
            <a:off x="749808" y="2880360"/>
            <a:ext cx="6380683"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frames already seen  —  may be used</a:t>
            </a:r>
            <a:endParaRPr lang="en-US" sz="1250" dirty="0"/>
          </a:p>
        </p:txBody>
      </p:sp>
      <p:sp>
        <p:nvSpPr>
          <p:cNvPr id="8" name="Text 6"/>
          <p:cNvSpPr txBox="1"/>
          <p:nvPr/>
        </p:nvSpPr>
        <p:spPr>
          <a:xfrm>
            <a:off x="7496251" y="2880360"/>
            <a:ext cx="3769157" cy="457200"/>
          </a:xfrm>
          <a:prstGeom prst="rect">
            <a:avLst/>
          </a:prstGeom>
          <a:noFill/>
          <a:ln/>
        </p:spPr>
        <p:txBody>
          <a:bodyPr wrap="square" lIns="0" tIns="0" rIns="0" bIns="0" rtlCol="0" anchor="ctr"/>
          <a:lstStyle/>
          <a:p>
            <a:pPr indent="0" marL="0">
              <a:buNone/>
            </a:pPr>
            <a:r>
              <a:rPr lang="en-US" sz="1250" b="1" dirty="0">
                <a:solidFill>
                  <a:srgbClr val="5B6572"/>
                </a:solidFill>
                <a:latin typeface="Calibri" pitchFamily="34" charset="0"/>
                <a:ea typeface="Calibri" pitchFamily="34" charset="-122"/>
                <a:cs typeface="Calibri" pitchFamily="34" charset="-120"/>
              </a:rPr>
              <a:t>future frames  —  forbidden</a:t>
            </a:r>
            <a:endParaRPr lang="en-US" sz="1250" dirty="0"/>
          </a:p>
        </p:txBody>
      </p:sp>
      <p:sp>
        <p:nvSpPr>
          <p:cNvPr id="9" name="Shape 7"/>
          <p:cNvSpPr/>
          <p:nvPr/>
        </p:nvSpPr>
        <p:spPr>
          <a:xfrm>
            <a:off x="7313371" y="2679192"/>
            <a:ext cx="0" cy="859536"/>
          </a:xfrm>
          <a:prstGeom prst="line">
            <a:avLst/>
          </a:prstGeom>
          <a:noFill/>
          <a:ln w="31750">
            <a:solidFill>
              <a:srgbClr val="D7263D"/>
            </a:solidFill>
            <a:prstDash val="solid"/>
          </a:ln>
        </p:spPr>
      </p:sp>
      <p:sp>
        <p:nvSpPr>
          <p:cNvPr id="10" name="Text 8"/>
          <p:cNvSpPr txBox="1"/>
          <p:nvPr/>
        </p:nvSpPr>
        <p:spPr>
          <a:xfrm>
            <a:off x="6947611" y="3557016"/>
            <a:ext cx="731520" cy="274320"/>
          </a:xfrm>
          <a:prstGeom prst="rect">
            <a:avLst/>
          </a:prstGeom>
          <a:noFill/>
          <a:ln/>
        </p:spPr>
        <p:txBody>
          <a:bodyPr wrap="square" lIns="0" tIns="0" rIns="0" bIns="0" rtlCol="0" anchor="ctr"/>
          <a:lstStyle/>
          <a:p>
            <a:pPr algn="ctr" indent="0" marL="0">
              <a:buNone/>
            </a:pPr>
            <a:r>
              <a:rPr lang="en-US" sz="1100" b="1" dirty="0">
                <a:solidFill>
                  <a:srgbClr val="D7263D"/>
                </a:solidFill>
                <a:latin typeface="Calibri" pitchFamily="34" charset="0"/>
                <a:ea typeface="Calibri" pitchFamily="34" charset="-122"/>
                <a:cs typeface="Calibri" pitchFamily="34" charset="-120"/>
              </a:rPr>
              <a:t>now</a:t>
            </a:r>
            <a:endParaRPr lang="en-US" sz="1100" dirty="0"/>
          </a:p>
        </p:txBody>
      </p:sp>
      <p:sp>
        <p:nvSpPr>
          <p:cNvPr id="11" name="Shape 9"/>
          <p:cNvSpPr/>
          <p:nvPr/>
        </p:nvSpPr>
        <p:spPr>
          <a:xfrm>
            <a:off x="566928" y="4041648"/>
            <a:ext cx="10881360" cy="1371600"/>
          </a:xfrm>
          <a:prstGeom prst="roundRect">
            <a:avLst>
              <a:gd name="adj" fmla="val 5333"/>
            </a:avLst>
          </a:prstGeom>
          <a:solidFill>
            <a:srgbClr val="F2F5FA"/>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12" name="Text 10"/>
          <p:cNvSpPr txBox="1"/>
          <p:nvPr/>
        </p:nvSpPr>
        <p:spPr>
          <a:xfrm>
            <a:off x="877824" y="4224528"/>
            <a:ext cx="4572000" cy="27432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How it is enforced</a:t>
            </a:r>
            <a:endParaRPr lang="en-US" sz="1400" dirty="0"/>
          </a:p>
        </p:txBody>
      </p:sp>
      <p:sp>
        <p:nvSpPr>
          <p:cNvPr id="13" name="Text 11"/>
          <p:cNvSpPr txBox="1"/>
          <p:nvPr/>
        </p:nvSpPr>
        <p:spPr>
          <a:xfrm>
            <a:off x="877824" y="4535424"/>
            <a:ext cx="10241280" cy="731520"/>
          </a:xfrm>
          <a:prstGeom prst="rect">
            <a:avLst/>
          </a:prstGeom>
          <a:noFill/>
          <a:ln/>
        </p:spPr>
        <p:txBody>
          <a:bodyPr wrap="square" lIns="0" tIns="0" rIns="0" bIns="0" rtlCol="0" anchor="ctr"/>
          <a:lstStyle/>
          <a:p>
            <a:pPr indent="0" marL="0">
              <a:buNone/>
            </a:pPr>
            <a:r>
              <a:rPr lang="en-US" sz="1300" dirty="0">
                <a:solidFill>
                  <a:srgbClr val="5B6572"/>
                </a:solidFill>
                <a:latin typeface="Calibri" pitchFamily="34" charset="0"/>
                <a:ea typeface="Calibri" pitchFamily="34" charset="-122"/>
                <a:cs typeface="Calibri" pitchFamily="34" charset="-120"/>
              </a:rPr>
              <a:t>Feed the model a truncated stream of length t, and require the outputs for frames 0…t to be bit-identical to the same frames from a full-length run. If they differ, the model used information from later frames. Enforced by automated test, not by inspection.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00" b="1" spc="200" kern="0" dirty="0">
                <a:solidFill>
                  <a:srgbClr val="D7263D"/>
                </a:solidFill>
                <a:latin typeface="Calibri" pitchFamily="34" charset="0"/>
                <a:ea typeface="Calibri" pitchFamily="34" charset="-122"/>
                <a:cs typeface="Calibri" pitchFamily="34" charset="-120"/>
              </a:rPr>
              <a:t>SCOPE</a:t>
            </a:r>
            <a:endParaRPr lang="en-US" sz="1100" dirty="0"/>
          </a:p>
        </p:txBody>
      </p:sp>
      <p:sp>
        <p:nvSpPr>
          <p:cNvPr id="3" name="Text 1"/>
          <p:cNvSpPr txBox="1"/>
          <p:nvPr/>
        </p:nvSpPr>
        <p:spPr>
          <a:xfrm>
            <a:off x="566928" y="640080"/>
            <a:ext cx="11055096" cy="89611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Objectives</a:t>
            </a:r>
            <a:endParaRPr lang="en-US" sz="3200" dirty="0"/>
          </a:p>
        </p:txBody>
      </p:sp>
      <p:sp>
        <p:nvSpPr>
          <p:cNvPr id="4" name="Shape 2"/>
          <p:cNvSpPr/>
          <p:nvPr/>
        </p:nvSpPr>
        <p:spPr>
          <a:xfrm>
            <a:off x="566928" y="1755648"/>
            <a:ext cx="384048" cy="384048"/>
          </a:xfrm>
          <a:prstGeom prst="ellipse">
            <a:avLst/>
          </a:prstGeom>
          <a:solidFill>
            <a:srgbClr val="1E2761"/>
          </a:solidFill>
          <a:ln w="12700">
            <a:solidFill>
              <a:srgbClr val="1E2761"/>
            </a:solidFill>
            <a:prstDash val="solid"/>
          </a:ln>
        </p:spPr>
      </p:sp>
      <p:sp>
        <p:nvSpPr>
          <p:cNvPr id="5" name="Text 3"/>
          <p:cNvSpPr txBox="1"/>
          <p:nvPr/>
        </p:nvSpPr>
        <p:spPr>
          <a:xfrm>
            <a:off x="566928" y="17556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207008" y="1737360"/>
            <a:ext cx="10332720" cy="566928"/>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Design a strictly causal, two-stream (appearance and pose) online detector for hand gestures in continuous video.</a:t>
            </a:r>
            <a:endParaRPr lang="en-US" sz="1400" dirty="0"/>
          </a:p>
        </p:txBody>
      </p:sp>
      <p:sp>
        <p:nvSpPr>
          <p:cNvPr id="7" name="Shape 5"/>
          <p:cNvSpPr/>
          <p:nvPr/>
        </p:nvSpPr>
        <p:spPr>
          <a:xfrm>
            <a:off x="566928" y="2542032"/>
            <a:ext cx="384048" cy="384048"/>
          </a:xfrm>
          <a:prstGeom prst="ellipse">
            <a:avLst/>
          </a:prstGeom>
          <a:solidFill>
            <a:srgbClr val="1E2761"/>
          </a:solidFill>
          <a:ln w="12700">
            <a:solidFill>
              <a:srgbClr val="1E2761"/>
            </a:solidFill>
            <a:prstDash val="solid"/>
          </a:ln>
        </p:spPr>
      </p:sp>
      <p:sp>
        <p:nvSpPr>
          <p:cNvPr id="8" name="Text 6"/>
          <p:cNvSpPr txBox="1"/>
          <p:nvPr/>
        </p:nvSpPr>
        <p:spPr>
          <a:xfrm>
            <a:off x="566928" y="254203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207008" y="2523744"/>
            <a:ext cx="10332720" cy="566928"/>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Implement an explicit online decision layer governing when an alarm is raised, rather than treating classifier output as an alarm.</a:t>
            </a:r>
            <a:endParaRPr lang="en-US" sz="1400" dirty="0"/>
          </a:p>
        </p:txBody>
      </p:sp>
      <p:sp>
        <p:nvSpPr>
          <p:cNvPr id="10" name="Shape 8"/>
          <p:cNvSpPr/>
          <p:nvPr/>
        </p:nvSpPr>
        <p:spPr>
          <a:xfrm>
            <a:off x="566928" y="3328416"/>
            <a:ext cx="384048" cy="384048"/>
          </a:xfrm>
          <a:prstGeom prst="ellipse">
            <a:avLst/>
          </a:prstGeom>
          <a:solidFill>
            <a:srgbClr val="1E2761"/>
          </a:solidFill>
          <a:ln w="12700">
            <a:solidFill>
              <a:srgbClr val="1E2761"/>
            </a:solidFill>
            <a:prstDash val="solid"/>
          </a:ln>
        </p:spPr>
      </p:sp>
      <p:sp>
        <p:nvSpPr>
          <p:cNvPr id="11" name="Text 9"/>
          <p:cNvSpPr txBox="1"/>
          <p:nvPr/>
        </p:nvSpPr>
        <p:spPr>
          <a:xfrm>
            <a:off x="566928" y="33284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207008" y="3310128"/>
            <a:ext cx="10332720" cy="566928"/>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Evaluate under an alarm-appropriate protocol — false alarms per hour and onset-to-alarm latency, not accuracy alone.</a:t>
            </a:r>
            <a:endParaRPr lang="en-US" sz="1400" dirty="0"/>
          </a:p>
        </p:txBody>
      </p:sp>
      <p:sp>
        <p:nvSpPr>
          <p:cNvPr id="13" name="Shape 11"/>
          <p:cNvSpPr/>
          <p:nvPr/>
        </p:nvSpPr>
        <p:spPr>
          <a:xfrm>
            <a:off x="566928" y="4114800"/>
            <a:ext cx="384048" cy="384048"/>
          </a:xfrm>
          <a:prstGeom prst="ellipse">
            <a:avLst/>
          </a:prstGeom>
          <a:solidFill>
            <a:srgbClr val="1E2761"/>
          </a:solidFill>
          <a:ln w="12700">
            <a:solidFill>
              <a:srgbClr val="1E2761"/>
            </a:solidFill>
            <a:prstDash val="solid"/>
          </a:ln>
        </p:spPr>
      </p:sp>
      <p:sp>
        <p:nvSpPr>
          <p:cNvPr id="14" name="Text 12"/>
          <p:cNvSpPr txBox="1"/>
          <p:nvPr/>
        </p:nvSpPr>
        <p:spPr>
          <a:xfrm>
            <a:off x="566928" y="41148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207008" y="4096512"/>
            <a:ext cx="10332720" cy="566928"/>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Establish results on a subject-disjoint split, every number traceable to a config, seed, split file and code revision.</a:t>
            </a:r>
            <a:endParaRPr lang="en-US" sz="1400" dirty="0"/>
          </a:p>
        </p:txBody>
      </p:sp>
      <p:sp>
        <p:nvSpPr>
          <p:cNvPr id="16" name="Shape 14"/>
          <p:cNvSpPr/>
          <p:nvPr/>
        </p:nvSpPr>
        <p:spPr>
          <a:xfrm>
            <a:off x="566928" y="4901184"/>
            <a:ext cx="384048" cy="384048"/>
          </a:xfrm>
          <a:prstGeom prst="ellipse">
            <a:avLst/>
          </a:prstGeom>
          <a:solidFill>
            <a:srgbClr val="D7263D"/>
          </a:solidFill>
          <a:ln w="12700">
            <a:solidFill>
              <a:srgbClr val="D7263D"/>
            </a:solidFill>
            <a:prstDash val="solid"/>
          </a:ln>
        </p:spPr>
      </p:sp>
      <p:sp>
        <p:nvSpPr>
          <p:cNvPr id="17" name="Text 15"/>
          <p:cNvSpPr txBox="1"/>
          <p:nvPr/>
        </p:nvSpPr>
        <p:spPr>
          <a:xfrm>
            <a:off x="566928" y="490118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txBox="1"/>
          <p:nvPr/>
        </p:nvSpPr>
        <p:spPr>
          <a:xfrm>
            <a:off x="1207008" y="4882896"/>
            <a:ext cx="10332720" cy="566928"/>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Build so the distress dataset can be substituted later with no change to model, training or evaluation code.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00" b="1" spc="200" kern="0" dirty="0">
                <a:solidFill>
                  <a:srgbClr val="D7263D"/>
                </a:solidFill>
                <a:latin typeface="Calibri" pitchFamily="34" charset="0"/>
                <a:ea typeface="Calibri" pitchFamily="34" charset="-122"/>
                <a:cs typeface="Calibri" pitchFamily="34" charset="-120"/>
              </a:rPr>
              <a:t>RELATED WORK</a:t>
            </a:r>
            <a:endParaRPr lang="en-US" sz="1100" dirty="0"/>
          </a:p>
        </p:txBody>
      </p:sp>
      <p:sp>
        <p:nvSpPr>
          <p:cNvPr id="3" name="Text 1"/>
          <p:cNvSpPr txBox="1"/>
          <p:nvPr/>
        </p:nvSpPr>
        <p:spPr>
          <a:xfrm>
            <a:off x="566928" y="640080"/>
            <a:ext cx="11055096" cy="89611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Where this task sits</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0881360" cy="914400"/>
        </p:xfrm>
        <a:graphic>
          <a:graphicData uri="http://schemas.openxmlformats.org/drawingml/2006/table">
            <a:tbl>
              <a:tblPr/>
              <a:tblGrid>
                <a:gridCol w="2743200"/>
                <a:gridCol w="2834640"/>
                <a:gridCol w="2011680"/>
                <a:gridCol w="3291840"/>
              </a:tblGrid>
              <a:tr h="47548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Task</a:t>
                      </a:r>
                      <a:endParaRPr lang="en-US" sz="1250" dirty="0">
                        <a:latin typeface="Calibri" charset="0"/>
                        <a:ea typeface="Calibri" charset="0"/>
                        <a:cs typeface="Calibri" charset="0"/>
                      </a:endParaRPr>
                    </a:p>
                  </a:txBody>
                  <a:tcPr marL="101600" marR="101600" marT="101600" marB="1016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1E276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Input at inference</a:t>
                      </a:r>
                      <a:endParaRPr lang="en-US" sz="1250" dirty="0">
                        <a:latin typeface="Calibri" charset="0"/>
                        <a:ea typeface="Calibri" charset="0"/>
                        <a:cs typeface="Calibri" charset="0"/>
                      </a:endParaRPr>
                    </a:p>
                  </a:txBody>
                  <a:tcPr marL="101600" marR="101600" marT="101600" marB="1016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1E276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Future frames</a:t>
                      </a:r>
                      <a:endParaRPr lang="en-US" sz="1250" dirty="0">
                        <a:latin typeface="Calibri" charset="0"/>
                        <a:ea typeface="Calibri" charset="0"/>
                        <a:cs typeface="Calibri" charset="0"/>
                      </a:endParaRPr>
                    </a:p>
                  </a:txBody>
                  <a:tcPr marL="101600" marR="101600" marT="101600" marB="1016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1E276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Examples</a:t>
                      </a:r>
                      <a:endParaRPr lang="en-US" sz="1250" dirty="0">
                        <a:latin typeface="Calibri" charset="0"/>
                        <a:ea typeface="Calibri" charset="0"/>
                        <a:cs typeface="Calibri" charset="0"/>
                      </a:endParaRPr>
                    </a:p>
                  </a:txBody>
                  <a:tcPr marL="101600" marR="101600" marT="101600" marB="1016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1E2761"/>
                    </a:solidFill>
                  </a:tcPr>
                </a:tc>
              </a:tr>
              <a:tr h="475488">
                <a:tc>
                  <a:txBody>
                    <a:bodyPr/>
                    <a:lstStyle/>
                    <a:p>
                      <a:pPr indent="0" marL="0">
                        <a:buNone/>
                      </a:pPr>
                      <a:r>
                        <a:rPr lang="en-US" sz="1300" dirty="0">
                          <a:solidFill>
                            <a:srgbClr val="5B6572"/>
                          </a:solidFill>
                          <a:latin typeface="Calibri" pitchFamily="34" charset="0"/>
                          <a:ea typeface="Calibri" pitchFamily="34" charset="-122"/>
                          <a:cs typeface="Calibri" pitchFamily="34" charset="-120"/>
                        </a:rPr>
                        <a:t>Action recognition</a:t>
                      </a:r>
                      <a:endParaRPr lang="en-US" sz="1300" dirty="0">
                        <a:latin typeface="Calibri" charset="0"/>
                        <a:ea typeface="Calibri" charset="0"/>
                        <a:cs typeface="Calibri" charset="0"/>
                      </a:endParaRPr>
                    </a:p>
                  </a:txBody>
                  <a:tcPr marL="101600" marR="101600" marT="101600" marB="1016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300" dirty="0">
                          <a:solidFill>
                            <a:srgbClr val="5B6572"/>
                          </a:solidFill>
                          <a:latin typeface="Calibri" pitchFamily="34" charset="0"/>
                          <a:ea typeface="Calibri" pitchFamily="34" charset="-122"/>
                          <a:cs typeface="Calibri" pitchFamily="34" charset="-120"/>
                        </a:rPr>
                        <a:t>Pre-trimmed clip</a:t>
                      </a:r>
                      <a:endParaRPr lang="en-US" sz="1300" dirty="0">
                        <a:latin typeface="Calibri" charset="0"/>
                        <a:ea typeface="Calibri" charset="0"/>
                        <a:cs typeface="Calibri" charset="0"/>
                      </a:endParaRPr>
                    </a:p>
                  </a:txBody>
                  <a:tcPr marL="101600" marR="101600" marT="101600" marB="1016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300" dirty="0">
                          <a:solidFill>
                            <a:srgbClr val="5B6572"/>
                          </a:solidFill>
                          <a:latin typeface="Calibri" pitchFamily="34" charset="0"/>
                          <a:ea typeface="Calibri" pitchFamily="34" charset="-122"/>
                          <a:cs typeface="Calibri" pitchFamily="34" charset="-120"/>
                        </a:rPr>
                        <a:t>Available</a:t>
                      </a:r>
                      <a:endParaRPr lang="en-US" sz="1300" dirty="0">
                        <a:latin typeface="Calibri" charset="0"/>
                        <a:ea typeface="Calibri" charset="0"/>
                        <a:cs typeface="Calibri" charset="0"/>
                      </a:endParaRPr>
                    </a:p>
                  </a:txBody>
                  <a:tcPr marL="101600" marR="101600" marT="101600" marB="1016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300" dirty="0">
                          <a:solidFill>
                            <a:srgbClr val="5B6572"/>
                          </a:solidFill>
                          <a:latin typeface="Calibri" pitchFamily="34" charset="0"/>
                          <a:ea typeface="Calibri" pitchFamily="34" charset="-122"/>
                          <a:cs typeface="Calibri" pitchFamily="34" charset="-120"/>
                        </a:rPr>
                        <a:t>I3D, TSM</a:t>
                      </a:r>
                      <a:endParaRPr lang="en-US" sz="1300" dirty="0">
                        <a:latin typeface="Calibri" charset="0"/>
                        <a:ea typeface="Calibri" charset="0"/>
                        <a:cs typeface="Calibri" charset="0"/>
                      </a:endParaRPr>
                    </a:p>
                  </a:txBody>
                  <a:tcPr marL="101600" marR="101600" marT="101600" marB="1016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5B6572"/>
                          </a:solidFill>
                          <a:latin typeface="Calibri" pitchFamily="34" charset="0"/>
                          <a:ea typeface="Calibri" pitchFamily="34" charset="-122"/>
                          <a:cs typeface="Calibri" pitchFamily="34" charset="-120"/>
                        </a:rPr>
                        <a:t>Offline localisation</a:t>
                      </a:r>
                      <a:endParaRPr lang="en-US" sz="1300" dirty="0">
                        <a:latin typeface="Calibri" charset="0"/>
                        <a:ea typeface="Calibri" charset="0"/>
                        <a:cs typeface="Calibri" charset="0"/>
                      </a:endParaRPr>
                    </a:p>
                  </a:txBody>
                  <a:tcPr marL="101600" marR="101600" marT="101600" marB="1016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300" dirty="0">
                          <a:solidFill>
                            <a:srgbClr val="5B6572"/>
                          </a:solidFill>
                          <a:latin typeface="Calibri" pitchFamily="34" charset="0"/>
                          <a:ea typeface="Calibri" pitchFamily="34" charset="-122"/>
                          <a:cs typeface="Calibri" pitchFamily="34" charset="-120"/>
                        </a:rPr>
                        <a:t>Whole video</a:t>
                      </a:r>
                      <a:endParaRPr lang="en-US" sz="1300" dirty="0">
                        <a:latin typeface="Calibri" charset="0"/>
                        <a:ea typeface="Calibri" charset="0"/>
                        <a:cs typeface="Calibri" charset="0"/>
                      </a:endParaRPr>
                    </a:p>
                  </a:txBody>
                  <a:tcPr marL="101600" marR="101600" marT="101600" marB="1016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300" dirty="0">
                          <a:solidFill>
                            <a:srgbClr val="5B6572"/>
                          </a:solidFill>
                          <a:latin typeface="Calibri" pitchFamily="34" charset="0"/>
                          <a:ea typeface="Calibri" pitchFamily="34" charset="-122"/>
                          <a:cs typeface="Calibri" pitchFamily="34" charset="-120"/>
                        </a:rPr>
                        <a:t>Available</a:t>
                      </a:r>
                      <a:endParaRPr lang="en-US" sz="1300" dirty="0">
                        <a:latin typeface="Calibri" charset="0"/>
                        <a:ea typeface="Calibri" charset="0"/>
                        <a:cs typeface="Calibri" charset="0"/>
                      </a:endParaRPr>
                    </a:p>
                  </a:txBody>
                  <a:tcPr marL="101600" marR="101600" marT="101600" marB="1016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300" dirty="0">
                          <a:solidFill>
                            <a:srgbClr val="5B6572"/>
                          </a:solidFill>
                          <a:latin typeface="Calibri" pitchFamily="34" charset="0"/>
                          <a:ea typeface="Calibri" pitchFamily="34" charset="-122"/>
                          <a:cs typeface="Calibri" pitchFamily="34" charset="-120"/>
                        </a:rPr>
                        <a:t>BSN, BMN</a:t>
                      </a:r>
                      <a:endParaRPr lang="en-US" sz="1300" dirty="0">
                        <a:latin typeface="Calibri" charset="0"/>
                        <a:ea typeface="Calibri" charset="0"/>
                        <a:cs typeface="Calibri" charset="0"/>
                      </a:endParaRPr>
                    </a:p>
                  </a:txBody>
                  <a:tcPr marL="101600" marR="101600" marT="101600" marB="1016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E2761"/>
                          </a:solidFill>
                          <a:latin typeface="Calibri" pitchFamily="34" charset="0"/>
                          <a:ea typeface="Calibri" pitchFamily="34" charset="-122"/>
                          <a:cs typeface="Calibri" pitchFamily="34" charset="-120"/>
                        </a:rPr>
                        <a:t>Online action detection</a:t>
                      </a:r>
                      <a:endParaRPr lang="en-US" sz="1300" dirty="0">
                        <a:latin typeface="Calibri" charset="0"/>
                        <a:ea typeface="Calibri" charset="0"/>
                        <a:cs typeface="Calibri" charset="0"/>
                      </a:endParaRPr>
                    </a:p>
                  </a:txBody>
                  <a:tcPr marL="101600" marR="101600" marT="101600" marB="1016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EAF0FA"/>
                    </a:solidFill>
                  </a:tcPr>
                </a:tc>
                <a:tc>
                  <a:txBody>
                    <a:bodyPr/>
                    <a:lstStyle/>
                    <a:p>
                      <a:pPr indent="0" marL="0">
                        <a:buNone/>
                      </a:pPr>
                      <a:r>
                        <a:rPr lang="en-US" sz="1300" b="1" dirty="0">
                          <a:solidFill>
                            <a:srgbClr val="1E2761"/>
                          </a:solidFill>
                          <a:latin typeface="Calibri" pitchFamily="34" charset="0"/>
                          <a:ea typeface="Calibri" pitchFamily="34" charset="-122"/>
                          <a:cs typeface="Calibri" pitchFamily="34" charset="-120"/>
                        </a:rPr>
                        <a:t>Stream, prefix only</a:t>
                      </a:r>
                      <a:endParaRPr lang="en-US" sz="1300" dirty="0">
                        <a:latin typeface="Calibri" charset="0"/>
                        <a:ea typeface="Calibri" charset="0"/>
                        <a:cs typeface="Calibri" charset="0"/>
                      </a:endParaRPr>
                    </a:p>
                  </a:txBody>
                  <a:tcPr marL="101600" marR="101600" marT="101600" marB="1016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EAF0FA"/>
                    </a:solidFill>
                  </a:tcPr>
                </a:tc>
                <a:tc>
                  <a:txBody>
                    <a:bodyPr/>
                    <a:lstStyle/>
                    <a:p>
                      <a:pPr indent="0" marL="0">
                        <a:buNone/>
                      </a:pPr>
                      <a:r>
                        <a:rPr lang="en-US" sz="1300" b="1" dirty="0">
                          <a:solidFill>
                            <a:srgbClr val="1E2761"/>
                          </a:solidFill>
                          <a:latin typeface="Calibri" pitchFamily="34" charset="0"/>
                          <a:ea typeface="Calibri" pitchFamily="34" charset="-122"/>
                          <a:cs typeface="Calibri" pitchFamily="34" charset="-120"/>
                        </a:rPr>
                        <a:t>Unavailable</a:t>
                      </a:r>
                      <a:endParaRPr lang="en-US" sz="1300" dirty="0">
                        <a:latin typeface="Calibri" charset="0"/>
                        <a:ea typeface="Calibri" charset="0"/>
                        <a:cs typeface="Calibri" charset="0"/>
                      </a:endParaRPr>
                    </a:p>
                  </a:txBody>
                  <a:tcPr marL="101600" marR="101600" marT="101600" marB="1016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EAF0FA"/>
                    </a:solidFill>
                  </a:tcPr>
                </a:tc>
                <a:tc>
                  <a:txBody>
                    <a:bodyPr/>
                    <a:lstStyle/>
                    <a:p>
                      <a:pPr indent="0" marL="0">
                        <a:buNone/>
                      </a:pPr>
                      <a:r>
                        <a:rPr lang="en-US" sz="1300" b="1" dirty="0">
                          <a:solidFill>
                            <a:srgbClr val="1E2761"/>
                          </a:solidFill>
                          <a:latin typeface="Calibri" pitchFamily="34" charset="0"/>
                          <a:ea typeface="Calibri" pitchFamily="34" charset="-122"/>
                          <a:cs typeface="Calibri" pitchFamily="34" charset="-120"/>
                        </a:rPr>
                        <a:t>TRN, OadTR, LSTR, MiniROAD</a:t>
                      </a:r>
                      <a:endParaRPr lang="en-US" sz="1300" dirty="0">
                        <a:latin typeface="Calibri" charset="0"/>
                        <a:ea typeface="Calibri" charset="0"/>
                        <a:cs typeface="Calibri" charset="0"/>
                      </a:endParaRPr>
                    </a:p>
                  </a:txBody>
                  <a:tcPr marL="101600" marR="101600" marT="101600" marB="1016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EAF0FA"/>
                    </a:solidFill>
                  </a:tcPr>
                </a:tc>
              </a:tr>
              <a:tr h="475488">
                <a:tc>
                  <a:txBody>
                    <a:bodyPr/>
                    <a:lstStyle/>
                    <a:p>
                      <a:pPr indent="0" marL="0">
                        <a:buNone/>
                      </a:pPr>
                      <a:r>
                        <a:rPr lang="en-US" sz="1300" dirty="0">
                          <a:solidFill>
                            <a:srgbClr val="5B6572"/>
                          </a:solidFill>
                          <a:latin typeface="Calibri" pitchFamily="34" charset="0"/>
                          <a:ea typeface="Calibri" pitchFamily="34" charset="-122"/>
                          <a:cs typeface="Calibri" pitchFamily="34" charset="-120"/>
                        </a:rPr>
                        <a:t>Action anticipation</a:t>
                      </a:r>
                      <a:endParaRPr lang="en-US" sz="1300" dirty="0">
                        <a:latin typeface="Calibri" charset="0"/>
                        <a:ea typeface="Calibri" charset="0"/>
                        <a:cs typeface="Calibri" charset="0"/>
                      </a:endParaRPr>
                    </a:p>
                  </a:txBody>
                  <a:tcPr marL="101600" marR="101600" marT="101600" marB="1016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300" dirty="0">
                          <a:solidFill>
                            <a:srgbClr val="5B6572"/>
                          </a:solidFill>
                          <a:latin typeface="Calibri" pitchFamily="34" charset="0"/>
                          <a:ea typeface="Calibri" pitchFamily="34" charset="-122"/>
                          <a:cs typeface="Calibri" pitchFamily="34" charset="-120"/>
                        </a:rPr>
                        <a:t>Stream, predicts ahead</a:t>
                      </a:r>
                      <a:endParaRPr lang="en-US" sz="1300" dirty="0">
                        <a:latin typeface="Calibri" charset="0"/>
                        <a:ea typeface="Calibri" charset="0"/>
                        <a:cs typeface="Calibri" charset="0"/>
                      </a:endParaRPr>
                    </a:p>
                  </a:txBody>
                  <a:tcPr marL="101600" marR="101600" marT="101600" marB="1016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300" dirty="0">
                          <a:solidFill>
                            <a:srgbClr val="5B6572"/>
                          </a:solidFill>
                          <a:latin typeface="Calibri" pitchFamily="34" charset="0"/>
                          <a:ea typeface="Calibri" pitchFamily="34" charset="-122"/>
                          <a:cs typeface="Calibri" pitchFamily="34" charset="-120"/>
                        </a:rPr>
                        <a:t>Unavailable</a:t>
                      </a:r>
                      <a:endParaRPr lang="en-US" sz="1300" dirty="0">
                        <a:latin typeface="Calibri" charset="0"/>
                        <a:ea typeface="Calibri" charset="0"/>
                        <a:cs typeface="Calibri" charset="0"/>
                      </a:endParaRPr>
                    </a:p>
                  </a:txBody>
                  <a:tcPr marL="101600" marR="101600" marT="101600" marB="1016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300" dirty="0">
                          <a:solidFill>
                            <a:srgbClr val="5B6572"/>
                          </a:solidFill>
                          <a:latin typeface="Calibri" pitchFamily="34" charset="0"/>
                          <a:ea typeface="Calibri" pitchFamily="34" charset="-122"/>
                          <a:cs typeface="Calibri" pitchFamily="34" charset="-120"/>
                        </a:rPr>
                        <a:t>RED</a:t>
                      </a:r>
                      <a:endParaRPr lang="en-US" sz="1300" dirty="0">
                        <a:latin typeface="Calibri" charset="0"/>
                        <a:ea typeface="Calibri" charset="0"/>
                        <a:cs typeface="Calibri" charset="0"/>
                      </a:endParaRPr>
                    </a:p>
                  </a:txBody>
                  <a:tcPr marL="101600" marR="101600" marT="101600" marB="1016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66928" y="4846320"/>
            <a:ext cx="10881360" cy="548640"/>
          </a:xfrm>
          <a:prstGeom prst="rect">
            <a:avLst/>
          </a:prstGeom>
          <a:noFill/>
          <a:ln/>
        </p:spPr>
        <p:txBody>
          <a:bodyPr wrap="square" lIns="0" tIns="0" rIns="0" bIns="0" rtlCol="0" anchor="ctr"/>
          <a:lstStyle/>
          <a:p>
            <a:pPr indent="0" marL="0">
              <a:buNone/>
            </a:pPr>
            <a:r>
              <a:rPr lang="en-US" sz="1350" dirty="0">
                <a:solidFill>
                  <a:srgbClr val="1A1A1A"/>
                </a:solidFill>
                <a:latin typeface="Calibri" pitchFamily="34" charset="0"/>
                <a:ea typeface="Calibri" pitchFamily="34" charset="-122"/>
                <a:cs typeface="Calibri" pitchFamily="34" charset="-120"/>
              </a:rPr>
              <a:t>Online action detection was formalised by De Geest et al. (2016), who showed that methods performing well on trimmed clips degrade substantially when boundaries are withheld.</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00" b="1" spc="200" kern="0" dirty="0">
                <a:solidFill>
                  <a:srgbClr val="D7263D"/>
                </a:solidFill>
                <a:latin typeface="Calibri" pitchFamily="34" charset="0"/>
                <a:ea typeface="Calibri" pitchFamily="34" charset="-122"/>
                <a:cs typeface="Calibri" pitchFamily="34" charset="-120"/>
              </a:rPr>
              <a:t>RELATED WORK</a:t>
            </a:r>
            <a:endParaRPr lang="en-US" sz="1100" dirty="0"/>
          </a:p>
        </p:txBody>
      </p:sp>
      <p:sp>
        <p:nvSpPr>
          <p:cNvPr id="3" name="Text 1"/>
          <p:cNvSpPr txBox="1"/>
          <p:nvPr/>
        </p:nvSpPr>
        <p:spPr>
          <a:xfrm>
            <a:off x="566928" y="640080"/>
            <a:ext cx="11055096" cy="89611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How the field has moved</a:t>
            </a:r>
            <a:endParaRPr lang="en-US" sz="3200" dirty="0"/>
          </a:p>
        </p:txBody>
      </p:sp>
      <p:sp>
        <p:nvSpPr>
          <p:cNvPr id="4" name="Shape 2"/>
          <p:cNvSpPr/>
          <p:nvPr/>
        </p:nvSpPr>
        <p:spPr>
          <a:xfrm>
            <a:off x="566928" y="1783080"/>
            <a:ext cx="10881360" cy="804672"/>
          </a:xfrm>
          <a:prstGeom prst="roundRect">
            <a:avLst>
              <a:gd name="adj" fmla="val 9091"/>
            </a:avLst>
          </a:prstGeom>
          <a:solidFill>
            <a:srgbClr val="F2F5FA"/>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5" name="Text 3"/>
          <p:cNvSpPr txBox="1"/>
          <p:nvPr/>
        </p:nvSpPr>
        <p:spPr>
          <a:xfrm>
            <a:off x="841248" y="1874520"/>
            <a:ext cx="1920240" cy="274320"/>
          </a:xfrm>
          <a:prstGeom prst="rect">
            <a:avLst/>
          </a:prstGeom>
          <a:noFill/>
          <a:ln/>
        </p:spPr>
        <p:txBody>
          <a:bodyPr wrap="square" lIns="0" tIns="0" rIns="0" bIns="0" rtlCol="0" anchor="ctr"/>
          <a:lstStyle/>
          <a:p>
            <a:pPr indent="0" marL="0">
              <a:buNone/>
            </a:pPr>
            <a:r>
              <a:rPr lang="en-US" sz="1100" b="1" dirty="0">
                <a:solidFill>
                  <a:srgbClr val="5B6572"/>
                </a:solidFill>
                <a:latin typeface="Calibri" pitchFamily="34" charset="0"/>
                <a:ea typeface="Calibri" pitchFamily="34" charset="-122"/>
                <a:cs typeface="Calibri" pitchFamily="34" charset="-120"/>
              </a:rPr>
              <a:t>Recurrent</a:t>
            </a:r>
            <a:endParaRPr lang="en-US" sz="1100" dirty="0"/>
          </a:p>
        </p:txBody>
      </p:sp>
      <p:sp>
        <p:nvSpPr>
          <p:cNvPr id="6" name="Text 4"/>
          <p:cNvSpPr txBox="1"/>
          <p:nvPr/>
        </p:nvSpPr>
        <p:spPr>
          <a:xfrm>
            <a:off x="841248" y="2167128"/>
            <a:ext cx="2194560" cy="292608"/>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RED (2017), TRN (2019)</a:t>
            </a:r>
            <a:endParaRPr lang="en-US" sz="1350" dirty="0"/>
          </a:p>
        </p:txBody>
      </p:sp>
      <p:sp>
        <p:nvSpPr>
          <p:cNvPr id="7" name="Text 5"/>
          <p:cNvSpPr txBox="1"/>
          <p:nvPr/>
        </p:nvSpPr>
        <p:spPr>
          <a:xfrm>
            <a:off x="3264408" y="1911096"/>
            <a:ext cx="7955280" cy="603504"/>
          </a:xfrm>
          <a:prstGeom prst="rect">
            <a:avLst/>
          </a:prstGeom>
          <a:noFill/>
          <a:ln/>
        </p:spPr>
        <p:txBody>
          <a:bodyPr wrap="square" lIns="0" tIns="0" rIns="0" bIns="0" rtlCol="0" anchor="ctr"/>
          <a:lstStyle/>
          <a:p>
            <a:pPr indent="0" marL="0">
              <a:buNone/>
            </a:pPr>
            <a:r>
              <a:rPr lang="en-US" sz="1250" dirty="0">
                <a:solidFill>
                  <a:srgbClr val="5B6572"/>
                </a:solidFill>
                <a:latin typeface="Calibri" pitchFamily="34" charset="0"/>
                <a:ea typeface="Calibri" pitchFamily="34" charset="-122"/>
                <a:cs typeface="Calibri" pitchFamily="34" charset="-120"/>
              </a:rPr>
              <a:t>Predict future representations and feed them back — inferred, not observed, so causality holds.</a:t>
            </a:r>
            <a:endParaRPr lang="en-US" sz="1250" dirty="0"/>
          </a:p>
        </p:txBody>
      </p:sp>
      <p:sp>
        <p:nvSpPr>
          <p:cNvPr id="8" name="Shape 6"/>
          <p:cNvSpPr/>
          <p:nvPr/>
        </p:nvSpPr>
        <p:spPr>
          <a:xfrm>
            <a:off x="566928" y="2715768"/>
            <a:ext cx="10881360" cy="804672"/>
          </a:xfrm>
          <a:prstGeom prst="roundRect">
            <a:avLst>
              <a:gd name="adj" fmla="val 9091"/>
            </a:avLst>
          </a:prstGeom>
          <a:solidFill>
            <a:srgbClr val="F2F5FA"/>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9" name="Text 7"/>
          <p:cNvSpPr txBox="1"/>
          <p:nvPr/>
        </p:nvSpPr>
        <p:spPr>
          <a:xfrm>
            <a:off x="841248" y="2807208"/>
            <a:ext cx="1920240" cy="274320"/>
          </a:xfrm>
          <a:prstGeom prst="rect">
            <a:avLst/>
          </a:prstGeom>
          <a:noFill/>
          <a:ln/>
        </p:spPr>
        <p:txBody>
          <a:bodyPr wrap="square" lIns="0" tIns="0" rIns="0" bIns="0" rtlCol="0" anchor="ctr"/>
          <a:lstStyle/>
          <a:p>
            <a:pPr indent="0" marL="0">
              <a:buNone/>
            </a:pPr>
            <a:r>
              <a:rPr lang="en-US" sz="1100" b="1" dirty="0">
                <a:solidFill>
                  <a:srgbClr val="5B6572"/>
                </a:solidFill>
                <a:latin typeface="Calibri" pitchFamily="34" charset="0"/>
                <a:ea typeface="Calibri" pitchFamily="34" charset="-122"/>
                <a:cs typeface="Calibri" pitchFamily="34" charset="-120"/>
              </a:rPr>
              <a:t>Transformer</a:t>
            </a:r>
            <a:endParaRPr lang="en-US" sz="1100" dirty="0"/>
          </a:p>
        </p:txBody>
      </p:sp>
      <p:sp>
        <p:nvSpPr>
          <p:cNvPr id="10" name="Text 8"/>
          <p:cNvSpPr txBox="1"/>
          <p:nvPr/>
        </p:nvSpPr>
        <p:spPr>
          <a:xfrm>
            <a:off x="841248" y="3099816"/>
            <a:ext cx="2194560" cy="292608"/>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OadTR (2021), LSTR (2021)</a:t>
            </a:r>
            <a:endParaRPr lang="en-US" sz="1350" dirty="0"/>
          </a:p>
        </p:txBody>
      </p:sp>
      <p:sp>
        <p:nvSpPr>
          <p:cNvPr id="11" name="Text 9"/>
          <p:cNvSpPr txBox="1"/>
          <p:nvPr/>
        </p:nvSpPr>
        <p:spPr>
          <a:xfrm>
            <a:off x="3264408" y="2843784"/>
            <a:ext cx="7955280" cy="603504"/>
          </a:xfrm>
          <a:prstGeom prst="rect">
            <a:avLst/>
          </a:prstGeom>
          <a:noFill/>
          <a:ln/>
        </p:spPr>
        <p:txBody>
          <a:bodyPr wrap="square" lIns="0" tIns="0" rIns="0" bIns="0" rtlCol="0" anchor="ctr"/>
          <a:lstStyle/>
          <a:p>
            <a:pPr indent="0" marL="0">
              <a:buNone/>
            </a:pPr>
            <a:r>
              <a:rPr lang="en-US" sz="1250" dirty="0">
                <a:solidFill>
                  <a:srgbClr val="5B6572"/>
                </a:solidFill>
                <a:latin typeface="Calibri" pitchFamily="34" charset="0"/>
                <a:ea typeface="Calibri" pitchFamily="34" charset="-122"/>
                <a:cs typeface="Calibri" pitchFamily="34" charset="-120"/>
              </a:rPr>
              <a:t>Longer effective context by separating long- and short-term memory.</a:t>
            </a:r>
            <a:endParaRPr lang="en-US" sz="1250" dirty="0"/>
          </a:p>
        </p:txBody>
      </p:sp>
      <p:sp>
        <p:nvSpPr>
          <p:cNvPr id="12" name="Shape 10"/>
          <p:cNvSpPr/>
          <p:nvPr/>
        </p:nvSpPr>
        <p:spPr>
          <a:xfrm>
            <a:off x="566928" y="3648456"/>
            <a:ext cx="10881360" cy="804672"/>
          </a:xfrm>
          <a:prstGeom prst="roundRect">
            <a:avLst>
              <a:gd name="adj" fmla="val 9091"/>
            </a:avLst>
          </a:prstGeom>
          <a:solidFill>
            <a:srgbClr val="F2F5FA"/>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13" name="Text 11"/>
          <p:cNvSpPr txBox="1"/>
          <p:nvPr/>
        </p:nvSpPr>
        <p:spPr>
          <a:xfrm>
            <a:off x="841248" y="3739896"/>
            <a:ext cx="1920240" cy="274320"/>
          </a:xfrm>
          <a:prstGeom prst="rect">
            <a:avLst/>
          </a:prstGeom>
          <a:noFill/>
          <a:ln/>
        </p:spPr>
        <p:txBody>
          <a:bodyPr wrap="square" lIns="0" tIns="0" rIns="0" bIns="0" rtlCol="0" anchor="ctr"/>
          <a:lstStyle/>
          <a:p>
            <a:pPr indent="0" marL="0">
              <a:buNone/>
            </a:pPr>
            <a:r>
              <a:rPr lang="en-US" sz="1100" b="1" dirty="0">
                <a:solidFill>
                  <a:srgbClr val="5B6572"/>
                </a:solidFill>
                <a:latin typeface="Calibri" pitchFamily="34" charset="0"/>
                <a:ea typeface="Calibri" pitchFamily="34" charset="-122"/>
                <a:cs typeface="Calibri" pitchFamily="34" charset="-120"/>
              </a:rPr>
              <a:t>Efficient streaming</a:t>
            </a:r>
            <a:endParaRPr lang="en-US" sz="1100" dirty="0"/>
          </a:p>
        </p:txBody>
      </p:sp>
      <p:sp>
        <p:nvSpPr>
          <p:cNvPr id="14" name="Text 12"/>
          <p:cNvSpPr txBox="1"/>
          <p:nvPr/>
        </p:nvSpPr>
        <p:spPr>
          <a:xfrm>
            <a:off x="841248" y="4032504"/>
            <a:ext cx="2194560" cy="292608"/>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TeSTra (2022)</a:t>
            </a:r>
            <a:endParaRPr lang="en-US" sz="1350" dirty="0"/>
          </a:p>
        </p:txBody>
      </p:sp>
      <p:sp>
        <p:nvSpPr>
          <p:cNvPr id="15" name="Text 13"/>
          <p:cNvSpPr txBox="1"/>
          <p:nvPr/>
        </p:nvSpPr>
        <p:spPr>
          <a:xfrm>
            <a:off x="3264408" y="3776472"/>
            <a:ext cx="7955280" cy="603504"/>
          </a:xfrm>
          <a:prstGeom prst="rect">
            <a:avLst/>
          </a:prstGeom>
          <a:noFill/>
          <a:ln/>
        </p:spPr>
        <p:txBody>
          <a:bodyPr wrap="square" lIns="0" tIns="0" rIns="0" bIns="0" rtlCol="0" anchor="ctr"/>
          <a:lstStyle/>
          <a:p>
            <a:pPr indent="0" marL="0">
              <a:buNone/>
            </a:pPr>
            <a:r>
              <a:rPr lang="en-US" sz="1250" dirty="0">
                <a:solidFill>
                  <a:srgbClr val="5B6572"/>
                </a:solidFill>
                <a:latin typeface="Calibri" pitchFamily="34" charset="0"/>
                <a:ea typeface="Calibri" pitchFamily="34" charset="-122"/>
                <a:cs typeface="Calibri" pitchFamily="34" charset="-120"/>
              </a:rPr>
              <a:t>Constant cost per frame via temporal smoothing kernels.</a:t>
            </a:r>
            <a:endParaRPr lang="en-US" sz="1250" dirty="0"/>
          </a:p>
        </p:txBody>
      </p:sp>
      <p:sp>
        <p:nvSpPr>
          <p:cNvPr id="16" name="Shape 14"/>
          <p:cNvSpPr/>
          <p:nvPr/>
        </p:nvSpPr>
        <p:spPr>
          <a:xfrm>
            <a:off x="566928" y="4581144"/>
            <a:ext cx="10881360" cy="804672"/>
          </a:xfrm>
          <a:prstGeom prst="roundRect">
            <a:avLst>
              <a:gd name="adj" fmla="val 9091"/>
            </a:avLst>
          </a:prstGeom>
          <a:solidFill>
            <a:srgbClr val="EAF0FA"/>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17" name="Text 15"/>
          <p:cNvSpPr txBox="1"/>
          <p:nvPr/>
        </p:nvSpPr>
        <p:spPr>
          <a:xfrm>
            <a:off x="841248" y="4672584"/>
            <a:ext cx="1920240" cy="274320"/>
          </a:xfrm>
          <a:prstGeom prst="rect">
            <a:avLst/>
          </a:prstGeom>
          <a:noFill/>
          <a:ln/>
        </p:spPr>
        <p:txBody>
          <a:bodyPr wrap="square" lIns="0" tIns="0" rIns="0" bIns="0" rtlCol="0" anchor="ctr"/>
          <a:lstStyle/>
          <a:p>
            <a:pPr indent="0" marL="0">
              <a:buNone/>
            </a:pPr>
            <a:r>
              <a:rPr lang="en-US" sz="1100" b="1" dirty="0">
                <a:solidFill>
                  <a:srgbClr val="D7263D"/>
                </a:solidFill>
                <a:latin typeface="Calibri" pitchFamily="34" charset="0"/>
                <a:ea typeface="Calibri" pitchFamily="34" charset="-122"/>
                <a:cs typeface="Calibri" pitchFamily="34" charset="-120"/>
              </a:rPr>
              <a:t>Back to RNN</a:t>
            </a:r>
            <a:endParaRPr lang="en-US" sz="1100" dirty="0"/>
          </a:p>
        </p:txBody>
      </p:sp>
      <p:sp>
        <p:nvSpPr>
          <p:cNvPr id="18" name="Text 16"/>
          <p:cNvSpPr txBox="1"/>
          <p:nvPr/>
        </p:nvSpPr>
        <p:spPr>
          <a:xfrm>
            <a:off x="841248" y="4965192"/>
            <a:ext cx="2194560" cy="292608"/>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MiniROAD (2023)</a:t>
            </a:r>
            <a:endParaRPr lang="en-US" sz="1350" dirty="0"/>
          </a:p>
        </p:txBody>
      </p:sp>
      <p:sp>
        <p:nvSpPr>
          <p:cNvPr id="19" name="Text 17"/>
          <p:cNvSpPr txBox="1"/>
          <p:nvPr/>
        </p:nvSpPr>
        <p:spPr>
          <a:xfrm>
            <a:off x="3264408" y="4709160"/>
            <a:ext cx="7955280" cy="603504"/>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Much of the transformer gain came from a training/inference mismatch. Fixing the loss weighting lets a minimal GRU compete at a fraction of the cost.</a:t>
            </a:r>
            <a:endParaRPr lang="en-US" sz="1250" dirty="0"/>
          </a:p>
        </p:txBody>
      </p:sp>
      <p:sp>
        <p:nvSpPr>
          <p:cNvPr id="20" name="Text 18"/>
          <p:cNvSpPr txBox="1"/>
          <p:nvPr/>
        </p:nvSpPr>
        <p:spPr>
          <a:xfrm>
            <a:off x="566928" y="5596128"/>
            <a:ext cx="10881360" cy="320040"/>
          </a:xfrm>
          <a:prstGeom prst="rect">
            <a:avLst/>
          </a:prstGeom>
          <a:noFill/>
          <a:ln/>
        </p:spPr>
        <p:txBody>
          <a:bodyPr wrap="square" lIns="0" tIns="0" rIns="0" bIns="0" rtlCol="0" anchor="ctr"/>
          <a:lstStyle/>
          <a:p>
            <a:pPr indent="0" marL="0">
              <a:buNone/>
            </a:pPr>
            <a:r>
              <a:rPr lang="en-US" sz="1300" i="1" dirty="0">
                <a:solidFill>
                  <a:srgbClr val="1E2761"/>
                </a:solidFill>
                <a:latin typeface="Calibri" pitchFamily="34" charset="0"/>
                <a:ea typeface="Calibri" pitchFamily="34" charset="-122"/>
                <a:cs typeface="Calibri" pitchFamily="34" charset="-120"/>
              </a:rPr>
              <a:t>MiniROAD's finding motivates the architecture adopted here.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00" b="1" spc="200" kern="0" dirty="0">
                <a:solidFill>
                  <a:srgbClr val="D7263D"/>
                </a:solidFill>
                <a:latin typeface="Calibri" pitchFamily="34" charset="0"/>
                <a:ea typeface="Calibri" pitchFamily="34" charset="-122"/>
                <a:cs typeface="Calibri" pitchFamily="34" charset="-120"/>
              </a:rPr>
              <a:t>RESEARCH GAP</a:t>
            </a:r>
            <a:endParaRPr lang="en-US" sz="1100" dirty="0"/>
          </a:p>
        </p:txBody>
      </p:sp>
      <p:sp>
        <p:nvSpPr>
          <p:cNvPr id="3" name="Text 1"/>
          <p:cNvSpPr txBox="1"/>
          <p:nvPr/>
        </p:nvSpPr>
        <p:spPr>
          <a:xfrm>
            <a:off x="566928" y="640080"/>
            <a:ext cx="11055096" cy="89611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Three gaps this work addresses</a:t>
            </a:r>
            <a:endParaRPr lang="en-US" sz="3200" dirty="0"/>
          </a:p>
        </p:txBody>
      </p:sp>
      <p:sp>
        <p:nvSpPr>
          <p:cNvPr id="4" name="Shape 2"/>
          <p:cNvSpPr/>
          <p:nvPr/>
        </p:nvSpPr>
        <p:spPr>
          <a:xfrm>
            <a:off x="566928" y="1828800"/>
            <a:ext cx="3429000" cy="3200400"/>
          </a:xfrm>
          <a:prstGeom prst="roundRect">
            <a:avLst>
              <a:gd name="adj" fmla="val 2286"/>
            </a:avLst>
          </a:prstGeom>
          <a:solidFill>
            <a:srgbClr val="F2F5FA"/>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5" name="Shape 3"/>
          <p:cNvSpPr/>
          <p:nvPr/>
        </p:nvSpPr>
        <p:spPr>
          <a:xfrm>
            <a:off x="822960" y="2066544"/>
            <a:ext cx="384048" cy="384048"/>
          </a:xfrm>
          <a:prstGeom prst="ellipse">
            <a:avLst/>
          </a:prstGeom>
          <a:solidFill>
            <a:srgbClr val="D7263D"/>
          </a:solidFill>
          <a:ln w="12700">
            <a:solidFill>
              <a:srgbClr val="D7263D"/>
            </a:solidFill>
            <a:prstDash val="solid"/>
          </a:ln>
        </p:spPr>
      </p:sp>
      <p:sp>
        <p:nvSpPr>
          <p:cNvPr id="6" name="Text 4"/>
          <p:cNvSpPr txBox="1"/>
          <p:nvPr/>
        </p:nvSpPr>
        <p:spPr>
          <a:xfrm>
            <a:off x="822960" y="206654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822960" y="2606040"/>
            <a:ext cx="2926080" cy="65836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Distress signals are unstudied</a:t>
            </a:r>
            <a:endParaRPr lang="en-US" sz="1500" dirty="0"/>
          </a:p>
        </p:txBody>
      </p:sp>
      <p:sp>
        <p:nvSpPr>
          <p:cNvPr id="8" name="Text 6"/>
          <p:cNvSpPr txBox="1"/>
          <p:nvPr/>
        </p:nvSpPr>
        <p:spPr>
          <a:xfrm>
            <a:off x="822960" y="3310128"/>
            <a:ext cx="2926080" cy="1554480"/>
          </a:xfrm>
          <a:prstGeom prst="rect">
            <a:avLst/>
          </a:prstGeom>
          <a:noFill/>
          <a:ln/>
        </p:spPr>
        <p:txBody>
          <a:bodyPr wrap="square" lIns="0" tIns="0" rIns="0" bIns="0" rtlCol="0" anchor="ctr"/>
          <a:lstStyle/>
          <a:p>
            <a:pPr indent="0" marL="0">
              <a:buNone/>
            </a:pPr>
            <a:r>
              <a:rPr lang="en-US" sz="1200" dirty="0">
                <a:solidFill>
                  <a:srgbClr val="5B6572"/>
                </a:solidFill>
                <a:latin typeface="Calibri" pitchFamily="34" charset="0"/>
                <a:ea typeface="Calibri" pitchFamily="34" charset="-122"/>
                <a:cs typeface="Calibri" pitchFamily="34" charset="-120"/>
              </a:rPr>
              <a:t>The Signal for Help is documented in public-safety literature, but computational work on detecting it in continuous video is minimal.</a:t>
            </a:r>
            <a:endParaRPr lang="en-US" sz="1200" dirty="0"/>
          </a:p>
        </p:txBody>
      </p:sp>
      <p:sp>
        <p:nvSpPr>
          <p:cNvPr id="9" name="Shape 7"/>
          <p:cNvSpPr/>
          <p:nvPr/>
        </p:nvSpPr>
        <p:spPr>
          <a:xfrm>
            <a:off x="4297680" y="1828800"/>
            <a:ext cx="3429000" cy="3200400"/>
          </a:xfrm>
          <a:prstGeom prst="roundRect">
            <a:avLst>
              <a:gd name="adj" fmla="val 2286"/>
            </a:avLst>
          </a:prstGeom>
          <a:solidFill>
            <a:srgbClr val="F2F5FA"/>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10" name="Shape 8"/>
          <p:cNvSpPr/>
          <p:nvPr/>
        </p:nvSpPr>
        <p:spPr>
          <a:xfrm>
            <a:off x="4553712" y="2066544"/>
            <a:ext cx="384048" cy="384048"/>
          </a:xfrm>
          <a:prstGeom prst="ellipse">
            <a:avLst/>
          </a:prstGeom>
          <a:solidFill>
            <a:srgbClr val="D7263D"/>
          </a:solidFill>
          <a:ln w="12700">
            <a:solidFill>
              <a:srgbClr val="D7263D"/>
            </a:solidFill>
            <a:prstDash val="solid"/>
          </a:ln>
        </p:spPr>
      </p:sp>
      <p:sp>
        <p:nvSpPr>
          <p:cNvPr id="11" name="Text 9"/>
          <p:cNvSpPr txBox="1"/>
          <p:nvPr/>
        </p:nvSpPr>
        <p:spPr>
          <a:xfrm>
            <a:off x="4553712" y="206654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4553712" y="2606040"/>
            <a:ext cx="2926080" cy="65836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The decision layer is skipped</a:t>
            </a:r>
            <a:endParaRPr lang="en-US" sz="1500" dirty="0"/>
          </a:p>
        </p:txBody>
      </p:sp>
      <p:sp>
        <p:nvSpPr>
          <p:cNvPr id="13" name="Text 11"/>
          <p:cNvSpPr txBox="1"/>
          <p:nvPr/>
        </p:nvSpPr>
        <p:spPr>
          <a:xfrm>
            <a:off x="4553712" y="3310128"/>
            <a:ext cx="2926080" cy="1554480"/>
          </a:xfrm>
          <a:prstGeom prst="rect">
            <a:avLst/>
          </a:prstGeom>
          <a:noFill/>
          <a:ln/>
        </p:spPr>
        <p:txBody>
          <a:bodyPr wrap="square" lIns="0" tIns="0" rIns="0" bIns="0" rtlCol="0" anchor="ctr"/>
          <a:lstStyle/>
          <a:p>
            <a:pPr indent="0" marL="0">
              <a:buNone/>
            </a:pPr>
            <a:r>
              <a:rPr lang="en-US" sz="1200" dirty="0">
                <a:solidFill>
                  <a:srgbClr val="5B6572"/>
                </a:solidFill>
                <a:latin typeface="Calibri" pitchFamily="34" charset="0"/>
                <a:ea typeface="Calibri" pitchFamily="34" charset="-122"/>
                <a:cs typeface="Calibri" pitchFamily="34" charset="-120"/>
              </a:rPr>
              <a:t>Published work reports per-frame metrics and omits the mechanism turning scores into alarms — thresholding, persistence, refractory behaviour — despite it determining practical performance.</a:t>
            </a:r>
            <a:endParaRPr lang="en-US" sz="1200" dirty="0"/>
          </a:p>
        </p:txBody>
      </p:sp>
      <p:sp>
        <p:nvSpPr>
          <p:cNvPr id="14" name="Shape 12"/>
          <p:cNvSpPr/>
          <p:nvPr/>
        </p:nvSpPr>
        <p:spPr>
          <a:xfrm>
            <a:off x="8028432" y="1828800"/>
            <a:ext cx="3429000" cy="3200400"/>
          </a:xfrm>
          <a:prstGeom prst="roundRect">
            <a:avLst>
              <a:gd name="adj" fmla="val 2286"/>
            </a:avLst>
          </a:prstGeom>
          <a:solidFill>
            <a:srgbClr val="F2F5FA"/>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15" name="Shape 13"/>
          <p:cNvSpPr/>
          <p:nvPr/>
        </p:nvSpPr>
        <p:spPr>
          <a:xfrm>
            <a:off x="8284464" y="2066544"/>
            <a:ext cx="384048" cy="384048"/>
          </a:xfrm>
          <a:prstGeom prst="ellipse">
            <a:avLst/>
          </a:prstGeom>
          <a:solidFill>
            <a:srgbClr val="D7263D"/>
          </a:solidFill>
          <a:ln w="12700">
            <a:solidFill>
              <a:srgbClr val="D7263D"/>
            </a:solidFill>
            <a:prstDash val="solid"/>
          </a:ln>
        </p:spPr>
      </p:sp>
      <p:sp>
        <p:nvSpPr>
          <p:cNvPr id="16" name="Text 14"/>
          <p:cNvSpPr txBox="1"/>
          <p:nvPr/>
        </p:nvSpPr>
        <p:spPr>
          <a:xfrm>
            <a:off x="8284464" y="206654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8284464" y="2606040"/>
            <a:ext cx="2926080" cy="65836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Alarm metrics are not reported</a:t>
            </a:r>
            <a:endParaRPr lang="en-US" sz="1500" dirty="0"/>
          </a:p>
        </p:txBody>
      </p:sp>
      <p:sp>
        <p:nvSpPr>
          <p:cNvPr id="18" name="Text 16"/>
          <p:cNvSpPr txBox="1"/>
          <p:nvPr/>
        </p:nvSpPr>
        <p:spPr>
          <a:xfrm>
            <a:off x="8284464" y="3310128"/>
            <a:ext cx="2926080" cy="1554480"/>
          </a:xfrm>
          <a:prstGeom prst="rect">
            <a:avLst/>
          </a:prstGeom>
          <a:noFill/>
          <a:ln/>
        </p:spPr>
        <p:txBody>
          <a:bodyPr wrap="square" lIns="0" tIns="0" rIns="0" bIns="0" rtlCol="0" anchor="ctr"/>
          <a:lstStyle/>
          <a:p>
            <a:pPr indent="0" marL="0">
              <a:buNone/>
            </a:pPr>
            <a:r>
              <a:rPr lang="en-US" sz="1200" dirty="0">
                <a:solidFill>
                  <a:srgbClr val="5B6572"/>
                </a:solidFill>
                <a:latin typeface="Calibri" pitchFamily="34" charset="0"/>
                <a:ea typeface="Calibri" pitchFamily="34" charset="-122"/>
                <a:cs typeface="Calibri" pitchFamily="34" charset="-120"/>
              </a:rPr>
              <a:t>False alarms per hour and onset latency are seldom given, making published methods hard to assess for deployment.</a:t>
            </a:r>
            <a:endParaRPr lang="en-US" sz="1200" dirty="0"/>
          </a:p>
        </p:txBody>
      </p:sp>
      <p:sp>
        <p:nvSpPr>
          <p:cNvPr id="19" name="Text 17"/>
          <p:cNvSpPr txBox="1"/>
          <p:nvPr/>
        </p:nvSpPr>
        <p:spPr>
          <a:xfrm>
            <a:off x="566928" y="5285232"/>
            <a:ext cx="1088136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Gaps 2 and 3 are where this thesis expects to contribute most.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00" b="1" spc="200" kern="0" dirty="0">
                <a:solidFill>
                  <a:srgbClr val="D7263D"/>
                </a:solidFill>
                <a:latin typeface="Calibri" pitchFamily="34" charset="0"/>
                <a:ea typeface="Calibri" pitchFamily="34" charset="-122"/>
                <a:cs typeface="Calibri" pitchFamily="34" charset="-120"/>
              </a:rPr>
              <a:t>APPROACH</a:t>
            </a:r>
            <a:endParaRPr lang="en-US" sz="1100" dirty="0"/>
          </a:p>
        </p:txBody>
      </p:sp>
      <p:sp>
        <p:nvSpPr>
          <p:cNvPr id="3" name="Text 1"/>
          <p:cNvSpPr txBox="1"/>
          <p:nvPr/>
        </p:nvSpPr>
        <p:spPr>
          <a:xfrm>
            <a:off x="566928" y="640080"/>
            <a:ext cx="11055096" cy="89611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Two phases: build now, swap the data later</a:t>
            </a:r>
            <a:endParaRPr lang="en-US" sz="3200" dirty="0"/>
          </a:p>
        </p:txBody>
      </p:sp>
      <p:sp>
        <p:nvSpPr>
          <p:cNvPr id="4" name="Text 2"/>
          <p:cNvSpPr txBox="1"/>
          <p:nvPr/>
        </p:nvSpPr>
        <p:spPr>
          <a:xfrm>
            <a:off x="566928" y="1627632"/>
            <a:ext cx="10881360" cy="45720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Recording a distress-signal dataset requires ethics approval and months of work. The system is therefore developed on a stand-in with the correct structure.</a:t>
            </a:r>
            <a:endParaRPr lang="en-US" sz="1400" dirty="0"/>
          </a:p>
        </p:txBody>
      </p:sp>
      <p:sp>
        <p:nvSpPr>
          <p:cNvPr id="5" name="Shape 3"/>
          <p:cNvSpPr/>
          <p:nvPr/>
        </p:nvSpPr>
        <p:spPr>
          <a:xfrm>
            <a:off x="566928" y="2286000"/>
            <a:ext cx="5303520" cy="3017520"/>
          </a:xfrm>
          <a:prstGeom prst="roundRect">
            <a:avLst>
              <a:gd name="adj" fmla="val 2424"/>
            </a:avLst>
          </a:prstGeom>
          <a:solidFill>
            <a:srgbClr val="F2F5FA"/>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6" name="Text 4"/>
          <p:cNvSpPr txBox="1"/>
          <p:nvPr/>
        </p:nvSpPr>
        <p:spPr>
          <a:xfrm>
            <a:off x="859536" y="2505456"/>
            <a:ext cx="4572000" cy="256032"/>
          </a:xfrm>
          <a:prstGeom prst="rect">
            <a:avLst/>
          </a:prstGeom>
          <a:noFill/>
          <a:ln/>
        </p:spPr>
        <p:txBody>
          <a:bodyPr wrap="square" lIns="0" tIns="0" rIns="0" bIns="0" rtlCol="0" anchor="ctr"/>
          <a:lstStyle/>
          <a:p>
            <a:pPr indent="0" marL="0">
              <a:buNone/>
            </a:pPr>
            <a:r>
              <a:rPr lang="en-US" sz="1050" b="1" spc="100" kern="0" dirty="0">
                <a:solidFill>
                  <a:srgbClr val="D7263D"/>
                </a:solidFill>
                <a:latin typeface="Calibri" pitchFamily="34" charset="0"/>
                <a:ea typeface="Calibri" pitchFamily="34" charset="-122"/>
                <a:cs typeface="Calibri" pitchFamily="34" charset="-120"/>
              </a:rPr>
              <a:t>PHASE 1  —  current</a:t>
            </a:r>
            <a:endParaRPr lang="en-US" sz="1050" dirty="0"/>
          </a:p>
        </p:txBody>
      </p:sp>
      <p:sp>
        <p:nvSpPr>
          <p:cNvPr id="7" name="Text 5"/>
          <p:cNvSpPr txBox="1"/>
          <p:nvPr/>
        </p:nvSpPr>
        <p:spPr>
          <a:xfrm>
            <a:off x="859536" y="2779776"/>
            <a:ext cx="4572000" cy="384048"/>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IPN Hand</a:t>
            </a:r>
            <a:endParaRPr lang="en-US" sz="2200" dirty="0"/>
          </a:p>
        </p:txBody>
      </p:sp>
      <p:sp>
        <p:nvSpPr>
          <p:cNvPr id="8" name="Text 6"/>
          <p:cNvSpPr txBox="1"/>
          <p:nvPr/>
        </p:nvSpPr>
        <p:spPr>
          <a:xfrm>
            <a:off x="859536" y="3255264"/>
            <a:ext cx="4754880" cy="182880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5B6572"/>
                </a:solidFill>
                <a:latin typeface="Calibri" pitchFamily="34" charset="0"/>
                <a:ea typeface="Calibri" pitchFamily="34" charset="-122"/>
                <a:cs typeface="Calibri" pitchFamily="34" charset="-120"/>
              </a:rPr>
              <a:t>200 videos, 50 subjects, ~800k frames</a:t>
            </a:r>
            <a:endParaRPr lang="en-US" sz="1250" dirty="0"/>
          </a:p>
          <a:p>
            <a:pPr marL="342900" indent="-342900">
              <a:spcAft>
                <a:spcPts val="700"/>
              </a:spcAft>
              <a:buSzPct val="100000"/>
              <a:buChar char="•"/>
            </a:pPr>
            <a:r>
              <a:rPr lang="en-US" sz="1250" dirty="0">
                <a:solidFill>
                  <a:srgbClr val="5B6572"/>
                </a:solidFill>
                <a:latin typeface="Calibri" pitchFamily="34" charset="0"/>
                <a:ea typeface="Calibri" pitchFamily="34" charset="-122"/>
                <a:cs typeface="Calibri" pitchFamily="34" charset="-120"/>
              </a:rPr>
              <a:t>13 touchless interface gestures — not distress signals</a:t>
            </a:r>
            <a:endParaRPr lang="en-US" sz="1250" dirty="0"/>
          </a:p>
          <a:p>
            <a:pPr marL="342900" indent="-342900">
              <a:spcAft>
                <a:spcPts val="700"/>
              </a:spcAft>
              <a:buSzPct val="100000"/>
              <a:buChar char="•"/>
            </a:pPr>
            <a:r>
              <a:rPr lang="en-US" sz="1250" dirty="0">
                <a:solidFill>
                  <a:srgbClr val="5B6572"/>
                </a:solidFill>
                <a:latin typeface="Calibri" pitchFamily="34" charset="0"/>
                <a:ea typeface="Calibri" pitchFamily="34" charset="-122"/>
                <a:cs typeface="Calibri" pitchFamily="34" charset="-120"/>
              </a:rPr>
              <a:t>Continuous video with a dominant non-gesture class</a:t>
            </a:r>
            <a:endParaRPr lang="en-US" sz="1250" dirty="0"/>
          </a:p>
          <a:p>
            <a:pPr marL="342900" indent="-342900">
              <a:spcAft>
                <a:spcPts val="700"/>
              </a:spcAft>
              <a:buSzPct val="100000"/>
              <a:buChar char="•"/>
            </a:pPr>
            <a:r>
              <a:rPr lang="en-US" sz="1250" dirty="0">
                <a:solidFill>
                  <a:srgbClr val="5B6572"/>
                </a:solidFill>
                <a:latin typeface="Calibri" pitchFamily="34" charset="0"/>
                <a:ea typeface="Calibri" pitchFamily="34" charset="-122"/>
                <a:cs typeface="Calibri" pitchFamily="34" charset="-120"/>
              </a:rPr>
              <a:t>Per-subject metadata for subject-disjoint evaluation</a:t>
            </a:r>
            <a:endParaRPr lang="en-US" sz="1250" dirty="0"/>
          </a:p>
        </p:txBody>
      </p:sp>
      <p:sp>
        <p:nvSpPr>
          <p:cNvPr id="9" name="Shape 7"/>
          <p:cNvSpPr/>
          <p:nvPr/>
        </p:nvSpPr>
        <p:spPr>
          <a:xfrm>
            <a:off x="6492240" y="2286000"/>
            <a:ext cx="5120640" cy="3017520"/>
          </a:xfrm>
          <a:prstGeom prst="roundRect">
            <a:avLst>
              <a:gd name="adj" fmla="val 2424"/>
            </a:avLst>
          </a:prstGeom>
          <a:solidFill>
            <a:srgbClr val="1E2761"/>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10" name="Text 8"/>
          <p:cNvSpPr txBox="1"/>
          <p:nvPr/>
        </p:nvSpPr>
        <p:spPr>
          <a:xfrm>
            <a:off x="6784848" y="2505456"/>
            <a:ext cx="4572000" cy="256032"/>
          </a:xfrm>
          <a:prstGeom prst="rect">
            <a:avLst/>
          </a:prstGeom>
          <a:noFill/>
          <a:ln/>
        </p:spPr>
        <p:txBody>
          <a:bodyPr wrap="square" lIns="0" tIns="0" rIns="0" bIns="0" rtlCol="0" anchor="ctr"/>
          <a:lstStyle/>
          <a:p>
            <a:pPr indent="0" marL="0">
              <a:buNone/>
            </a:pPr>
            <a:r>
              <a:rPr lang="en-US" sz="1050" b="1" spc="100" kern="0" dirty="0">
                <a:solidFill>
                  <a:srgbClr val="CADCFC"/>
                </a:solidFill>
                <a:latin typeface="Calibri" pitchFamily="34" charset="0"/>
                <a:ea typeface="Calibri" pitchFamily="34" charset="-122"/>
                <a:cs typeface="Calibri" pitchFamily="34" charset="-120"/>
              </a:rPr>
              <a:t>PHASE 2  —  later</a:t>
            </a:r>
            <a:endParaRPr lang="en-US" sz="1050" dirty="0"/>
          </a:p>
        </p:txBody>
      </p:sp>
      <p:sp>
        <p:nvSpPr>
          <p:cNvPr id="11" name="Text 9"/>
          <p:cNvSpPr txBox="1"/>
          <p:nvPr/>
        </p:nvSpPr>
        <p:spPr>
          <a:xfrm>
            <a:off x="6784848" y="2779776"/>
            <a:ext cx="4572000" cy="384048"/>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Recorded SOS data</a:t>
            </a:r>
            <a:endParaRPr lang="en-US" sz="2200" dirty="0"/>
          </a:p>
        </p:txBody>
      </p:sp>
      <p:sp>
        <p:nvSpPr>
          <p:cNvPr id="12" name="Text 10"/>
          <p:cNvSpPr txBox="1"/>
          <p:nvPr/>
        </p:nvSpPr>
        <p:spPr>
          <a:xfrm>
            <a:off x="6784848" y="3291840"/>
            <a:ext cx="4572000" cy="10058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Substituted behind a dataset adapter. Adding a dataset means one adapter file and one settings file — no change to model, training or evaluation code.</a:t>
            </a:r>
            <a:endParaRPr lang="en-US" sz="1300" dirty="0"/>
          </a:p>
        </p:txBody>
      </p:sp>
      <p:sp>
        <p:nvSpPr>
          <p:cNvPr id="13" name="Text 11"/>
          <p:cNvSpPr txBox="1"/>
          <p:nvPr/>
        </p:nvSpPr>
        <p:spPr>
          <a:xfrm>
            <a:off x="6784848" y="4434840"/>
            <a:ext cx="4572000" cy="548640"/>
          </a:xfrm>
          <a:prstGeom prst="rect">
            <a:avLst/>
          </a:prstGeom>
          <a:noFill/>
          <a:ln/>
        </p:spPr>
        <p:txBody>
          <a:bodyPr wrap="square" lIns="0" tIns="0" rIns="0" bIns="0" rtlCol="0" anchor="ctr"/>
          <a:lstStyle/>
          <a:p>
            <a:pPr indent="0" marL="0">
              <a:buNone/>
            </a:pPr>
            <a:r>
              <a:rPr lang="en-US" sz="1200" b="1" dirty="0">
                <a:solidFill>
                  <a:srgbClr val="FFC9CF"/>
                </a:solidFill>
                <a:latin typeface="Calibri" pitchFamily="34" charset="0"/>
                <a:ea typeface="Calibri" pitchFamily="34" charset="-122"/>
                <a:cs typeface="Calibri" pitchFamily="34" charset="-120"/>
              </a:rPr>
              <a:t>Needs institutional ethics approval — application to begin now.</a:t>
            </a:r>
            <a:endParaRPr lang="en-US" sz="1200" dirty="0"/>
          </a:p>
        </p:txBody>
      </p:sp>
      <p:sp>
        <p:nvSpPr>
          <p:cNvPr id="14" name="Text 12"/>
          <p:cNvSpPr txBox="1"/>
          <p:nvPr/>
        </p:nvSpPr>
        <p:spPr>
          <a:xfrm>
            <a:off x="566928" y="5532120"/>
            <a:ext cx="10881360" cy="457200"/>
          </a:xfrm>
          <a:prstGeom prst="rect">
            <a:avLst/>
          </a:prstGeom>
          <a:noFill/>
          <a:ln/>
        </p:spPr>
        <p:txBody>
          <a:bodyPr wrap="square" lIns="0" tIns="0" rIns="0" bIns="0" rtlCol="0" anchor="ctr"/>
          <a:lstStyle/>
          <a:p>
            <a:pPr indent="0" marL="0">
              <a:buNone/>
            </a:pPr>
            <a:r>
              <a:rPr lang="en-US" sz="1300" i="1" dirty="0">
                <a:solidFill>
                  <a:srgbClr val="1E2761"/>
                </a:solidFill>
                <a:latin typeface="Calibri" pitchFamily="34" charset="0"/>
                <a:ea typeface="Calibri" pitchFamily="34" charset="-122"/>
                <a:cs typeface="Calibri" pitchFamily="34" charset="-120"/>
              </a:rPr>
              <a:t>Why a stand-in is legitimate: the research contribution is the detection method and its evaluation, neither of which depends on which gesture is being detected.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00" b="1" spc="200" kern="0" dirty="0">
                <a:solidFill>
                  <a:srgbClr val="D7263D"/>
                </a:solidFill>
                <a:latin typeface="Calibri" pitchFamily="34" charset="0"/>
                <a:ea typeface="Calibri" pitchFamily="34" charset="-122"/>
                <a:cs typeface="Calibri" pitchFamily="34" charset="-120"/>
              </a:rPr>
              <a:t>PROGRESS  ·  STAGE 1</a:t>
            </a:r>
            <a:endParaRPr lang="en-US" sz="1100" dirty="0"/>
          </a:p>
        </p:txBody>
      </p:sp>
      <p:sp>
        <p:nvSpPr>
          <p:cNvPr id="3" name="Text 1"/>
          <p:cNvSpPr txBox="1"/>
          <p:nvPr/>
        </p:nvSpPr>
        <p:spPr>
          <a:xfrm>
            <a:off x="566928" y="640080"/>
            <a:ext cx="11055096" cy="89611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dataset, verified against the paper</a:t>
            </a:r>
            <a:endParaRPr lang="en-US" sz="3200" dirty="0"/>
          </a:p>
        </p:txBody>
      </p:sp>
      <p:pic>
        <p:nvPicPr>
          <p:cNvPr id="4" name="Image 0" descr="C:\Users\astha\Projects\sos-oad\reports\samples\1CM1_1_R_217_3367-3814_sheet.png">    </p:cNvPr>
          <p:cNvPicPr>
            <a:picLocks noChangeAspect="1"/>
          </p:cNvPicPr>
          <p:nvPr/>
        </p:nvPicPr>
        <p:blipFill>
          <a:blip r:embed="rId1"/>
          <a:stretch>
            <a:fillRect/>
          </a:stretch>
        </p:blipFill>
        <p:spPr>
          <a:xfrm>
            <a:off x="566928" y="1664208"/>
            <a:ext cx="10881360" cy="1792224"/>
          </a:xfrm>
          <a:prstGeom prst="rect">
            <a:avLst/>
          </a:prstGeom>
        </p:spPr>
      </p:pic>
      <p:sp>
        <p:nvSpPr>
          <p:cNvPr id="5" name="Text 2"/>
          <p:cNvSpPr txBox="1"/>
          <p:nvPr/>
        </p:nvSpPr>
        <p:spPr>
          <a:xfrm>
            <a:off x="566928" y="3547872"/>
            <a:ext cx="10881360" cy="329184"/>
          </a:xfrm>
          <a:prstGeom prst="rect">
            <a:avLst/>
          </a:prstGeom>
          <a:noFill/>
          <a:ln/>
        </p:spPr>
        <p:txBody>
          <a:bodyPr wrap="square" lIns="0" tIns="0" rIns="0" bIns="0" rtlCol="0" anchor="ctr"/>
          <a:lstStyle/>
          <a:p>
            <a:pPr indent="0" marL="0">
              <a:buNone/>
            </a:pPr>
            <a:r>
              <a:rPr lang="en-US" sz="1150" i="1" dirty="0">
                <a:solidFill>
                  <a:srgbClr val="5B6572"/>
                </a:solidFill>
                <a:latin typeface="Calibri" pitchFamily="34" charset="0"/>
                <a:ea typeface="Calibri" pitchFamily="34" charset="-122"/>
                <a:cs typeface="Calibri" pitchFamily="34" charset="-120"/>
              </a:rPr>
              <a:t>Ground-truth labels drawn onto the frames. The label changes exactly when the hand starts moving — a visual check that the annotation indexing is correct.</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4041648"/>
          <a:ext cx="5943600" cy="914400"/>
        </p:xfrm>
        <a:graphic>
          <a:graphicData uri="http://schemas.openxmlformats.org/drawingml/2006/table">
            <a:tbl>
              <a:tblPr/>
              <a:tblGrid>
                <a:gridCol w="2651760"/>
                <a:gridCol w="1645920"/>
                <a:gridCol w="164592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Quantity</a:t>
                      </a:r>
                      <a:endParaRPr lang="en-US" sz="1200" dirty="0">
                        <a:latin typeface="Calibri" charset="0"/>
                        <a:ea typeface="Calibri" charset="0"/>
                        <a:cs typeface="Calibri" charset="0"/>
                      </a:endParaRPr>
                    </a:p>
                  </a:txBody>
                  <a:tcPr marL="76200" marR="76200" marT="76200" marB="762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Published</a:t>
                      </a:r>
                      <a:endParaRPr lang="en-US" sz="1200" dirty="0">
                        <a:latin typeface="Calibri" charset="0"/>
                        <a:ea typeface="Calibri" charset="0"/>
                        <a:cs typeface="Calibri" charset="0"/>
                      </a:endParaRPr>
                    </a:p>
                  </a:txBody>
                  <a:tcPr marL="76200" marR="76200" marT="76200" marB="762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Computed</a:t>
                      </a:r>
                      <a:endParaRPr lang="en-US" sz="1200" dirty="0">
                        <a:latin typeface="Calibri" charset="0"/>
                        <a:ea typeface="Calibri" charset="0"/>
                        <a:cs typeface="Calibri" charset="0"/>
                      </a:endParaRPr>
                    </a:p>
                  </a:txBody>
                  <a:tcPr marL="76200" marR="76200" marT="76200" marB="762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1E2761"/>
                    </a:solidFill>
                  </a:tcPr>
                </a:tc>
              </a:tr>
              <a:tr h="329184">
                <a:tc>
                  <a:txBody>
                    <a:bodyPr/>
                    <a:lstStyle/>
                    <a:p>
                      <a:pPr indent="0" marL="0">
                        <a:buNone/>
                      </a:pPr>
                      <a:r>
                        <a:rPr lang="en-US" sz="1200" dirty="0">
                          <a:solidFill>
                            <a:srgbClr val="1E2761"/>
                          </a:solidFill>
                          <a:latin typeface="Calibri" pitchFamily="34" charset="0"/>
                          <a:ea typeface="Calibri" pitchFamily="34" charset="-122"/>
                          <a:cs typeface="Calibri" pitchFamily="34" charset="-120"/>
                        </a:rPr>
                        <a:t>Videos</a:t>
                      </a:r>
                      <a:endParaRPr lang="en-US" sz="1200" dirty="0">
                        <a:latin typeface="Calibri" charset="0"/>
                        <a:ea typeface="Calibri" charset="0"/>
                        <a:cs typeface="Calibri" charset="0"/>
                      </a:endParaRPr>
                    </a:p>
                  </a:txBody>
                  <a:tcPr marL="76200" marR="76200" marT="76200" marB="762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200" dirty="0">
                          <a:solidFill>
                            <a:srgbClr val="1E2761"/>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76200" marR="76200" marT="76200" marB="762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200" dirty="0">
                          <a:solidFill>
                            <a:srgbClr val="1E2761"/>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76200" marR="76200" marT="76200" marB="762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E2761"/>
                          </a:solidFill>
                          <a:latin typeface="Calibri" pitchFamily="34" charset="0"/>
                          <a:ea typeface="Calibri" pitchFamily="34" charset="-122"/>
                          <a:cs typeface="Calibri" pitchFamily="34" charset="-120"/>
                        </a:rPr>
                        <a:t>Subjects</a:t>
                      </a:r>
                      <a:endParaRPr lang="en-US" sz="1200" dirty="0">
                        <a:latin typeface="Calibri" charset="0"/>
                        <a:ea typeface="Calibri" charset="0"/>
                        <a:cs typeface="Calibri" charset="0"/>
                      </a:endParaRPr>
                    </a:p>
                  </a:txBody>
                  <a:tcPr marL="76200" marR="76200" marT="76200" marB="762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200" dirty="0">
                          <a:solidFill>
                            <a:srgbClr val="1E2761"/>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76200" marR="76200" marT="76200" marB="762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200" dirty="0">
                          <a:solidFill>
                            <a:srgbClr val="1E2761"/>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76200" marR="76200" marT="76200" marB="762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E2761"/>
                          </a:solidFill>
                          <a:latin typeface="Calibri" pitchFamily="34" charset="0"/>
                          <a:ea typeface="Calibri" pitchFamily="34" charset="-122"/>
                          <a:cs typeface="Calibri" pitchFamily="34" charset="-120"/>
                        </a:rPr>
                        <a:t>Gesture instances</a:t>
                      </a:r>
                      <a:endParaRPr lang="en-US" sz="1200" dirty="0">
                        <a:latin typeface="Calibri" charset="0"/>
                        <a:ea typeface="Calibri" charset="0"/>
                        <a:cs typeface="Calibri" charset="0"/>
                      </a:endParaRPr>
                    </a:p>
                  </a:txBody>
                  <a:tcPr marL="76200" marR="76200" marT="76200" marB="762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200" dirty="0">
                          <a:solidFill>
                            <a:srgbClr val="1E2761"/>
                          </a:solidFill>
                          <a:latin typeface="Calibri" pitchFamily="34" charset="0"/>
                          <a:ea typeface="Calibri" pitchFamily="34" charset="-122"/>
                          <a:cs typeface="Calibri" pitchFamily="34" charset="-120"/>
                        </a:rPr>
                        <a:t>4,218</a:t>
                      </a:r>
                      <a:endParaRPr lang="en-US" sz="1200" dirty="0">
                        <a:latin typeface="Calibri" charset="0"/>
                        <a:ea typeface="Calibri" charset="0"/>
                        <a:cs typeface="Calibri" charset="0"/>
                      </a:endParaRPr>
                    </a:p>
                  </a:txBody>
                  <a:tcPr marL="76200" marR="76200" marT="76200" marB="762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200" dirty="0">
                          <a:solidFill>
                            <a:srgbClr val="1E2761"/>
                          </a:solidFill>
                          <a:latin typeface="Calibri" pitchFamily="34" charset="0"/>
                          <a:ea typeface="Calibri" pitchFamily="34" charset="-122"/>
                          <a:cs typeface="Calibri" pitchFamily="34" charset="-120"/>
                        </a:rPr>
                        <a:t>4,218</a:t>
                      </a:r>
                      <a:endParaRPr lang="en-US" sz="1200" dirty="0">
                        <a:latin typeface="Calibri" charset="0"/>
                        <a:ea typeface="Calibri" charset="0"/>
                        <a:cs typeface="Calibri" charset="0"/>
                      </a:endParaRPr>
                    </a:p>
                  </a:txBody>
                  <a:tcPr marL="76200" marR="76200" marT="76200" marB="762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E2761"/>
                          </a:solidFill>
                          <a:latin typeface="Calibri" pitchFamily="34" charset="0"/>
                          <a:ea typeface="Calibri" pitchFamily="34" charset="-122"/>
                          <a:cs typeface="Calibri" pitchFamily="34" charset="-120"/>
                        </a:rPr>
                        <a:t>Non-gesture instances</a:t>
                      </a:r>
                      <a:endParaRPr lang="en-US" sz="1200" dirty="0">
                        <a:latin typeface="Calibri" charset="0"/>
                        <a:ea typeface="Calibri" charset="0"/>
                        <a:cs typeface="Calibri" charset="0"/>
                      </a:endParaRPr>
                    </a:p>
                  </a:txBody>
                  <a:tcPr marL="76200" marR="76200" marT="76200" marB="762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200" dirty="0">
                          <a:solidFill>
                            <a:srgbClr val="1E2761"/>
                          </a:solidFill>
                          <a:latin typeface="Calibri" pitchFamily="34" charset="0"/>
                          <a:ea typeface="Calibri" pitchFamily="34" charset="-122"/>
                          <a:cs typeface="Calibri" pitchFamily="34" charset="-120"/>
                        </a:rPr>
                        <a:t>1,431</a:t>
                      </a:r>
                      <a:endParaRPr lang="en-US" sz="1200" dirty="0">
                        <a:latin typeface="Calibri" charset="0"/>
                        <a:ea typeface="Calibri" charset="0"/>
                        <a:cs typeface="Calibri" charset="0"/>
                      </a:endParaRPr>
                    </a:p>
                  </a:txBody>
                  <a:tcPr marL="76200" marR="76200" marT="76200" marB="762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200" dirty="0">
                          <a:solidFill>
                            <a:srgbClr val="1E2761"/>
                          </a:solidFill>
                          <a:latin typeface="Calibri" pitchFamily="34" charset="0"/>
                          <a:ea typeface="Calibri" pitchFamily="34" charset="-122"/>
                          <a:cs typeface="Calibri" pitchFamily="34" charset="-120"/>
                        </a:rPr>
                        <a:t>1,431</a:t>
                      </a:r>
                      <a:endParaRPr lang="en-US" sz="1200" dirty="0">
                        <a:latin typeface="Calibri" charset="0"/>
                        <a:ea typeface="Calibri" charset="0"/>
                        <a:cs typeface="Calibri" charset="0"/>
                      </a:endParaRPr>
                    </a:p>
                  </a:txBody>
                  <a:tcPr marL="76200" marR="76200" marT="76200" marB="762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E2761"/>
                          </a:solidFill>
                          <a:latin typeface="Calibri" pitchFamily="34" charset="0"/>
                          <a:ea typeface="Calibri" pitchFamily="34" charset="-122"/>
                          <a:cs typeface="Calibri" pitchFamily="34" charset="-120"/>
                        </a:rPr>
                        <a:t>Frames</a:t>
                      </a:r>
                      <a:endParaRPr lang="en-US" sz="1200" dirty="0">
                        <a:latin typeface="Calibri" charset="0"/>
                        <a:ea typeface="Calibri" charset="0"/>
                        <a:cs typeface="Calibri" charset="0"/>
                      </a:endParaRPr>
                    </a:p>
                  </a:txBody>
                  <a:tcPr marL="76200" marR="76200" marT="76200" marB="762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200" dirty="0">
                          <a:solidFill>
                            <a:srgbClr val="1E2761"/>
                          </a:solidFill>
                          <a:latin typeface="Calibri" pitchFamily="34" charset="0"/>
                          <a:ea typeface="Calibri" pitchFamily="34" charset="-122"/>
                          <a:cs typeface="Calibri" pitchFamily="34" charset="-120"/>
                        </a:rPr>
                        <a:t>~800,000</a:t>
                      </a:r>
                      <a:endParaRPr lang="en-US" sz="1200" dirty="0">
                        <a:latin typeface="Calibri" charset="0"/>
                        <a:ea typeface="Calibri" charset="0"/>
                        <a:cs typeface="Calibri" charset="0"/>
                      </a:endParaRPr>
                    </a:p>
                  </a:txBody>
                  <a:tcPr marL="76200" marR="76200" marT="76200" marB="762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200" dirty="0">
                          <a:solidFill>
                            <a:srgbClr val="1E2761"/>
                          </a:solidFill>
                          <a:latin typeface="Calibri" pitchFamily="34" charset="0"/>
                          <a:ea typeface="Calibri" pitchFamily="34" charset="-122"/>
                          <a:cs typeface="Calibri" pitchFamily="34" charset="-120"/>
                        </a:rPr>
                        <a:t>800,491</a:t>
                      </a:r>
                      <a:endParaRPr lang="en-US" sz="1200" dirty="0">
                        <a:latin typeface="Calibri" charset="0"/>
                        <a:ea typeface="Calibri" charset="0"/>
                        <a:cs typeface="Calibri" charset="0"/>
                      </a:endParaRPr>
                    </a:p>
                  </a:txBody>
                  <a:tcPr marL="76200" marR="76200" marT="76200" marB="762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r>
            </a:tbl>
          </a:graphicData>
        </a:graphic>
      </p:graphicFrame>
      <p:sp>
        <p:nvSpPr>
          <p:cNvPr id="7" name="Shape 3"/>
          <p:cNvSpPr/>
          <p:nvPr/>
        </p:nvSpPr>
        <p:spPr>
          <a:xfrm>
            <a:off x="6858000" y="4041648"/>
            <a:ext cx="4754880" cy="1975104"/>
          </a:xfrm>
          <a:prstGeom prst="roundRect">
            <a:avLst>
              <a:gd name="adj" fmla="val 3704"/>
            </a:avLst>
          </a:prstGeom>
          <a:solidFill>
            <a:srgbClr val="EAF0FA"/>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8" name="Text 4"/>
          <p:cNvSpPr txBox="1"/>
          <p:nvPr/>
        </p:nvSpPr>
        <p:spPr>
          <a:xfrm>
            <a:off x="7114032" y="4242816"/>
            <a:ext cx="4297680" cy="27432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Table II also reproduced</a:t>
            </a:r>
            <a:endParaRPr lang="en-US" sz="1400" dirty="0"/>
          </a:p>
        </p:txBody>
      </p:sp>
      <p:sp>
        <p:nvSpPr>
          <p:cNvPr id="9" name="Text 5"/>
          <p:cNvSpPr txBox="1"/>
          <p:nvPr/>
        </p:nvSpPr>
        <p:spPr>
          <a:xfrm>
            <a:off x="7114032" y="4572000"/>
            <a:ext cx="4297680" cy="1280160"/>
          </a:xfrm>
          <a:prstGeom prst="rect">
            <a:avLst/>
          </a:prstGeom>
          <a:noFill/>
          <a:ln/>
        </p:spPr>
        <p:txBody>
          <a:bodyPr wrap="square" lIns="0" tIns="0" rIns="0" bIns="0" rtlCol="0" anchor="ctr"/>
          <a:lstStyle/>
          <a:p>
            <a:pPr indent="0" marL="0">
              <a:buNone/>
            </a:pPr>
            <a:r>
              <a:rPr lang="en-US" sz="1200" dirty="0">
                <a:solidFill>
                  <a:srgbClr val="5B6572"/>
                </a:solidFill>
                <a:latin typeface="Calibri" pitchFamily="34" charset="0"/>
                <a:ea typeface="Calibri" pitchFamily="34" charset="-122"/>
                <a:cs typeface="Calibri" pitchFamily="34" charset="-120"/>
              </a:rPr>
              <a:t>Per-class instance count, mean span duration and standard deviation, for all 14 classes. This verifies the class mapping, not merely the class count — the dataset ships codes (B0A, G01) without stating which gesture each denotes.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00" b="1" spc="200" kern="0" dirty="0">
                <a:solidFill>
                  <a:srgbClr val="D7263D"/>
                </a:solidFill>
                <a:latin typeface="Calibri" pitchFamily="34" charset="0"/>
                <a:ea typeface="Calibri" pitchFamily="34" charset="-122"/>
                <a:cs typeface="Calibri" pitchFamily="34" charset="-120"/>
              </a:rPr>
              <a:t>PROGRESS  ·  STAGE 1</a:t>
            </a:r>
            <a:endParaRPr lang="en-US" sz="1100" dirty="0"/>
          </a:p>
        </p:txBody>
      </p:sp>
      <p:sp>
        <p:nvSpPr>
          <p:cNvPr id="3" name="Text 1"/>
          <p:cNvSpPr txBox="1"/>
          <p:nvPr/>
        </p:nvSpPr>
        <p:spPr>
          <a:xfrm>
            <a:off x="566928" y="640080"/>
            <a:ext cx="11055096" cy="89611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 finding that shapes the method</a:t>
            </a:r>
            <a:endParaRPr lang="en-US" sz="3200" dirty="0"/>
          </a:p>
        </p:txBody>
      </p:sp>
      <p:sp>
        <p:nvSpPr>
          <p:cNvPr id="4" name="Text 2"/>
          <p:cNvSpPr txBox="1"/>
          <p:nvPr/>
        </p:nvSpPr>
        <p:spPr>
          <a:xfrm>
            <a:off x="566928" y="1783080"/>
            <a:ext cx="3108960" cy="1188720"/>
          </a:xfrm>
          <a:prstGeom prst="rect">
            <a:avLst/>
          </a:prstGeom>
          <a:noFill/>
          <a:ln/>
        </p:spPr>
        <p:txBody>
          <a:bodyPr wrap="square" lIns="0" tIns="0" rIns="0" bIns="0" rtlCol="0" anchor="ctr"/>
          <a:lstStyle/>
          <a:p>
            <a:pPr indent="0" marL="0">
              <a:buNone/>
            </a:pPr>
            <a:r>
              <a:rPr lang="en-US" sz="7600" b="1" dirty="0">
                <a:solidFill>
                  <a:srgbClr val="D7263D"/>
                </a:solidFill>
                <a:latin typeface="Cambria" pitchFamily="34" charset="0"/>
                <a:ea typeface="Cambria" pitchFamily="34" charset="-122"/>
                <a:cs typeface="Cambria" pitchFamily="34" charset="-120"/>
              </a:rPr>
              <a:t>82%</a:t>
            </a:r>
            <a:endParaRPr lang="en-US" sz="7600" dirty="0"/>
          </a:p>
        </p:txBody>
      </p:sp>
      <p:sp>
        <p:nvSpPr>
          <p:cNvPr id="5" name="Text 3"/>
          <p:cNvSpPr txBox="1"/>
          <p:nvPr/>
        </p:nvSpPr>
        <p:spPr>
          <a:xfrm>
            <a:off x="566928" y="2944368"/>
            <a:ext cx="3291840" cy="5486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of all frames belong to just three classes</a:t>
            </a:r>
            <a:endParaRPr lang="en-US" sz="1400" dirty="0"/>
          </a:p>
        </p:txBody>
      </p:sp>
      <p:sp>
        <p:nvSpPr>
          <p:cNvPr id="6" name="Text 4"/>
          <p:cNvSpPr txBox="1"/>
          <p:nvPr/>
        </p:nvSpPr>
        <p:spPr>
          <a:xfrm>
            <a:off x="4114800" y="1874520"/>
            <a:ext cx="2743200" cy="292608"/>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pointing, two fingers</a:t>
            </a:r>
            <a:endParaRPr lang="en-US" sz="1250" dirty="0"/>
          </a:p>
        </p:txBody>
      </p:sp>
      <p:sp>
        <p:nvSpPr>
          <p:cNvPr id="7" name="Shape 5"/>
          <p:cNvSpPr/>
          <p:nvPr/>
        </p:nvSpPr>
        <p:spPr>
          <a:xfrm>
            <a:off x="6949440" y="1901952"/>
            <a:ext cx="3696005" cy="237744"/>
          </a:xfrm>
          <a:prstGeom prst="rect">
            <a:avLst/>
          </a:prstGeom>
          <a:solidFill>
            <a:srgbClr val="1E2761"/>
          </a:solidFill>
          <a:ln w="12700">
            <a:solidFill>
              <a:srgbClr val="1E2761"/>
            </a:solidFill>
            <a:prstDash val="solid"/>
          </a:ln>
        </p:spPr>
      </p:sp>
      <p:sp>
        <p:nvSpPr>
          <p:cNvPr id="8" name="Text 6"/>
          <p:cNvSpPr txBox="1"/>
          <p:nvPr/>
        </p:nvSpPr>
        <p:spPr>
          <a:xfrm>
            <a:off x="10972800" y="1874520"/>
            <a:ext cx="731520" cy="292608"/>
          </a:xfrm>
          <a:prstGeom prst="rect">
            <a:avLst/>
          </a:prstGeom>
          <a:noFill/>
          <a:ln/>
        </p:spPr>
        <p:txBody>
          <a:bodyPr wrap="square" lIns="0" tIns="0" rIns="0" bIns="0" rtlCol="0" anchor="ctr"/>
          <a:lstStyle/>
          <a:p>
            <a:pPr indent="0" marL="0">
              <a:buNone/>
            </a:pPr>
            <a:r>
              <a:rPr lang="en-US" sz="1200" b="1" dirty="0">
                <a:solidFill>
                  <a:srgbClr val="5B6572"/>
                </a:solidFill>
                <a:latin typeface="Calibri" pitchFamily="34" charset="0"/>
                <a:ea typeface="Calibri" pitchFamily="34" charset="-122"/>
                <a:cs typeface="Calibri" pitchFamily="34" charset="-120"/>
              </a:rPr>
              <a:t>28.2%</a:t>
            </a:r>
            <a:endParaRPr lang="en-US" sz="1200" dirty="0"/>
          </a:p>
        </p:txBody>
      </p:sp>
      <p:sp>
        <p:nvSpPr>
          <p:cNvPr id="9" name="Text 7"/>
          <p:cNvSpPr txBox="1"/>
          <p:nvPr/>
        </p:nvSpPr>
        <p:spPr>
          <a:xfrm>
            <a:off x="4114800" y="2587752"/>
            <a:ext cx="2743200" cy="292608"/>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pointing, one finger</a:t>
            </a:r>
            <a:endParaRPr lang="en-US" sz="1250" dirty="0"/>
          </a:p>
        </p:txBody>
      </p:sp>
      <p:sp>
        <p:nvSpPr>
          <p:cNvPr id="10" name="Shape 8"/>
          <p:cNvSpPr/>
          <p:nvPr/>
        </p:nvSpPr>
        <p:spPr>
          <a:xfrm>
            <a:off x="6949440" y="2615184"/>
            <a:ext cx="3617366" cy="237744"/>
          </a:xfrm>
          <a:prstGeom prst="rect">
            <a:avLst/>
          </a:prstGeom>
          <a:solidFill>
            <a:srgbClr val="1E2761"/>
          </a:solidFill>
          <a:ln w="12700">
            <a:solidFill>
              <a:srgbClr val="1E2761"/>
            </a:solidFill>
            <a:prstDash val="solid"/>
          </a:ln>
        </p:spPr>
      </p:sp>
      <p:sp>
        <p:nvSpPr>
          <p:cNvPr id="11" name="Text 9"/>
          <p:cNvSpPr txBox="1"/>
          <p:nvPr/>
        </p:nvSpPr>
        <p:spPr>
          <a:xfrm>
            <a:off x="10972800" y="2587752"/>
            <a:ext cx="731520" cy="292608"/>
          </a:xfrm>
          <a:prstGeom prst="rect">
            <a:avLst/>
          </a:prstGeom>
          <a:noFill/>
          <a:ln/>
        </p:spPr>
        <p:txBody>
          <a:bodyPr wrap="square" lIns="0" tIns="0" rIns="0" bIns="0" rtlCol="0" anchor="ctr"/>
          <a:lstStyle/>
          <a:p>
            <a:pPr indent="0" marL="0">
              <a:buNone/>
            </a:pPr>
            <a:r>
              <a:rPr lang="en-US" sz="1200" b="1" dirty="0">
                <a:solidFill>
                  <a:srgbClr val="5B6572"/>
                </a:solidFill>
                <a:latin typeface="Calibri" pitchFamily="34" charset="0"/>
                <a:ea typeface="Calibri" pitchFamily="34" charset="-122"/>
                <a:cs typeface="Calibri" pitchFamily="34" charset="-120"/>
              </a:rPr>
              <a:t>27.6%</a:t>
            </a:r>
            <a:endParaRPr lang="en-US" sz="1200" dirty="0"/>
          </a:p>
        </p:txBody>
      </p:sp>
      <p:sp>
        <p:nvSpPr>
          <p:cNvPr id="12" name="Text 10"/>
          <p:cNvSpPr txBox="1"/>
          <p:nvPr/>
        </p:nvSpPr>
        <p:spPr>
          <a:xfrm>
            <a:off x="4114800" y="3300984"/>
            <a:ext cx="2743200" cy="292608"/>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none (no gesture)</a:t>
            </a:r>
            <a:endParaRPr lang="en-US" sz="1250" dirty="0"/>
          </a:p>
        </p:txBody>
      </p:sp>
      <p:sp>
        <p:nvSpPr>
          <p:cNvPr id="13" name="Shape 11"/>
          <p:cNvSpPr/>
          <p:nvPr/>
        </p:nvSpPr>
        <p:spPr>
          <a:xfrm>
            <a:off x="6949440" y="3328416"/>
            <a:ext cx="3446983" cy="237744"/>
          </a:xfrm>
          <a:prstGeom prst="rect">
            <a:avLst/>
          </a:prstGeom>
          <a:solidFill>
            <a:srgbClr val="1E2761"/>
          </a:solidFill>
          <a:ln w="12700">
            <a:solidFill>
              <a:srgbClr val="1E2761"/>
            </a:solidFill>
            <a:prstDash val="solid"/>
          </a:ln>
        </p:spPr>
      </p:sp>
      <p:sp>
        <p:nvSpPr>
          <p:cNvPr id="14" name="Text 12"/>
          <p:cNvSpPr txBox="1"/>
          <p:nvPr/>
        </p:nvSpPr>
        <p:spPr>
          <a:xfrm>
            <a:off x="10972800" y="3300984"/>
            <a:ext cx="731520" cy="292608"/>
          </a:xfrm>
          <a:prstGeom prst="rect">
            <a:avLst/>
          </a:prstGeom>
          <a:noFill/>
          <a:ln/>
        </p:spPr>
        <p:txBody>
          <a:bodyPr wrap="square" lIns="0" tIns="0" rIns="0" bIns="0" rtlCol="0" anchor="ctr"/>
          <a:lstStyle/>
          <a:p>
            <a:pPr indent="0" marL="0">
              <a:buNone/>
            </a:pPr>
            <a:r>
              <a:rPr lang="en-US" sz="1200" b="1" dirty="0">
                <a:solidFill>
                  <a:srgbClr val="5B6572"/>
                </a:solidFill>
                <a:latin typeface="Calibri" pitchFamily="34" charset="0"/>
                <a:ea typeface="Calibri" pitchFamily="34" charset="-122"/>
                <a:cs typeface="Calibri" pitchFamily="34" charset="-120"/>
              </a:rPr>
              <a:t>26.3%</a:t>
            </a:r>
            <a:endParaRPr lang="en-US" sz="1200" dirty="0"/>
          </a:p>
        </p:txBody>
      </p:sp>
      <p:sp>
        <p:nvSpPr>
          <p:cNvPr id="15" name="Text 13"/>
          <p:cNvSpPr txBox="1"/>
          <p:nvPr/>
        </p:nvSpPr>
        <p:spPr>
          <a:xfrm>
            <a:off x="4114800" y="4014216"/>
            <a:ext cx="2743200" cy="292608"/>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the other 11 gestures</a:t>
            </a:r>
            <a:endParaRPr lang="en-US" sz="1250" dirty="0"/>
          </a:p>
        </p:txBody>
      </p:sp>
      <p:sp>
        <p:nvSpPr>
          <p:cNvPr id="16" name="Shape 14"/>
          <p:cNvSpPr/>
          <p:nvPr/>
        </p:nvSpPr>
        <p:spPr>
          <a:xfrm>
            <a:off x="6949440" y="4041648"/>
            <a:ext cx="2346046" cy="237744"/>
          </a:xfrm>
          <a:prstGeom prst="rect">
            <a:avLst/>
          </a:prstGeom>
          <a:solidFill>
            <a:srgbClr val="97A3B6"/>
          </a:solidFill>
          <a:ln w="12700">
            <a:solidFill>
              <a:srgbClr val="97A3B6"/>
            </a:solidFill>
            <a:prstDash val="solid"/>
          </a:ln>
        </p:spPr>
      </p:sp>
      <p:sp>
        <p:nvSpPr>
          <p:cNvPr id="17" name="Text 15"/>
          <p:cNvSpPr txBox="1"/>
          <p:nvPr/>
        </p:nvSpPr>
        <p:spPr>
          <a:xfrm>
            <a:off x="10972800" y="4014216"/>
            <a:ext cx="731520" cy="292608"/>
          </a:xfrm>
          <a:prstGeom prst="rect">
            <a:avLst/>
          </a:prstGeom>
          <a:noFill/>
          <a:ln/>
        </p:spPr>
        <p:txBody>
          <a:bodyPr wrap="square" lIns="0" tIns="0" rIns="0" bIns="0" rtlCol="0" anchor="ctr"/>
          <a:lstStyle/>
          <a:p>
            <a:pPr indent="0" marL="0">
              <a:buNone/>
            </a:pPr>
            <a:r>
              <a:rPr lang="en-US" sz="1200" b="1" dirty="0">
                <a:solidFill>
                  <a:srgbClr val="5B6572"/>
                </a:solidFill>
                <a:latin typeface="Calibri" pitchFamily="34" charset="0"/>
                <a:ea typeface="Calibri" pitchFamily="34" charset="-122"/>
                <a:cs typeface="Calibri" pitchFamily="34" charset="-120"/>
              </a:rPr>
              <a:t>17.9%</a:t>
            </a:r>
            <a:endParaRPr lang="en-US" sz="1200" dirty="0"/>
          </a:p>
        </p:txBody>
      </p:sp>
      <p:sp>
        <p:nvSpPr>
          <p:cNvPr id="18" name="Shape 16"/>
          <p:cNvSpPr/>
          <p:nvPr/>
        </p:nvSpPr>
        <p:spPr>
          <a:xfrm>
            <a:off x="566928" y="4956048"/>
            <a:ext cx="10881360" cy="1024128"/>
          </a:xfrm>
          <a:prstGeom prst="roundRect">
            <a:avLst>
              <a:gd name="adj" fmla="val 7143"/>
            </a:avLst>
          </a:prstGeom>
          <a:solidFill>
            <a:srgbClr val="F2F5FA"/>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19" name="Text 17"/>
          <p:cNvSpPr txBox="1"/>
          <p:nvPr/>
        </p:nvSpPr>
        <p:spPr>
          <a:xfrm>
            <a:off x="859536" y="5138928"/>
            <a:ext cx="10332720" cy="68580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The two “pointing” classes are long resting states with a median duration of about seven seconds, not brief commands. This drives class balancing in the model and the false-alarm denominator in evaluation — and the recorded distress data will not share this shape.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00" b="1" spc="200" kern="0" dirty="0">
                <a:solidFill>
                  <a:srgbClr val="D7263D"/>
                </a:solidFill>
                <a:latin typeface="Calibri" pitchFamily="34" charset="0"/>
                <a:ea typeface="Calibri" pitchFamily="34" charset="-122"/>
                <a:cs typeface="Calibri" pitchFamily="34" charset="-120"/>
              </a:rPr>
              <a:t>METHODOLOGY</a:t>
            </a:r>
            <a:endParaRPr lang="en-US" sz="1100" dirty="0"/>
          </a:p>
        </p:txBody>
      </p:sp>
      <p:sp>
        <p:nvSpPr>
          <p:cNvPr id="3" name="Text 1"/>
          <p:cNvSpPr txBox="1"/>
          <p:nvPr/>
        </p:nvSpPr>
        <p:spPr>
          <a:xfrm>
            <a:off x="566928" y="640080"/>
            <a:ext cx="11055096" cy="89611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System pipeline</a:t>
            </a:r>
            <a:endParaRPr lang="en-US" sz="3200" dirty="0"/>
          </a:p>
        </p:txBody>
      </p:sp>
      <p:sp>
        <p:nvSpPr>
          <p:cNvPr id="4" name="Shape 2"/>
          <p:cNvSpPr/>
          <p:nvPr/>
        </p:nvSpPr>
        <p:spPr>
          <a:xfrm>
            <a:off x="566928" y="1965960"/>
            <a:ext cx="2542032" cy="2286000"/>
          </a:xfrm>
          <a:prstGeom prst="roundRect">
            <a:avLst>
              <a:gd name="adj" fmla="val 3200"/>
            </a:avLst>
          </a:prstGeom>
          <a:solidFill>
            <a:srgbClr val="F2F5FA"/>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5" name="Shape 3"/>
          <p:cNvSpPr/>
          <p:nvPr/>
        </p:nvSpPr>
        <p:spPr>
          <a:xfrm>
            <a:off x="786384" y="2176272"/>
            <a:ext cx="384048" cy="384048"/>
          </a:xfrm>
          <a:prstGeom prst="ellipse">
            <a:avLst/>
          </a:prstGeom>
          <a:solidFill>
            <a:srgbClr val="1E2761"/>
          </a:solidFill>
          <a:ln w="12700">
            <a:solidFill>
              <a:srgbClr val="1E2761"/>
            </a:solidFill>
            <a:prstDash val="solid"/>
          </a:ln>
        </p:spPr>
      </p:sp>
      <p:sp>
        <p:nvSpPr>
          <p:cNvPr id="6" name="Text 4"/>
          <p:cNvSpPr txBox="1"/>
          <p:nvPr/>
        </p:nvSpPr>
        <p:spPr>
          <a:xfrm>
            <a:off x="786384" y="21762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786384" y="2697480"/>
            <a:ext cx="2103120" cy="65836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Feature</a:t>
            </a:r>
            <a:endParaRPr lang="en-US" sz="1500" dirty="0"/>
          </a:p>
          <a:p>
            <a:pPr indent="0" marL="0">
              <a:buNone/>
            </a:pPr>
            <a:r>
              <a:rPr lang="en-US" sz="1500" b="1" dirty="0">
                <a:solidFill>
                  <a:srgbClr val="1E2761"/>
                </a:solidFill>
                <a:latin typeface="Calibri" pitchFamily="34" charset="0"/>
                <a:ea typeface="Calibri" pitchFamily="34" charset="-122"/>
                <a:cs typeface="Calibri" pitchFamily="34" charset="-120"/>
              </a:rPr>
              <a:t>extraction</a:t>
            </a:r>
            <a:endParaRPr lang="en-US" sz="1500" dirty="0"/>
          </a:p>
        </p:txBody>
      </p:sp>
      <p:sp>
        <p:nvSpPr>
          <p:cNvPr id="8" name="Text 6"/>
          <p:cNvSpPr txBox="1"/>
          <p:nvPr/>
        </p:nvSpPr>
        <p:spPr>
          <a:xfrm>
            <a:off x="786384" y="3401568"/>
            <a:ext cx="2103120" cy="749808"/>
          </a:xfrm>
          <a:prstGeom prst="rect">
            <a:avLst/>
          </a:prstGeom>
          <a:noFill/>
          <a:ln/>
        </p:spPr>
        <p:txBody>
          <a:bodyPr wrap="square" lIns="0" tIns="0" rIns="0" bIns="0" rtlCol="0" anchor="ctr"/>
          <a:lstStyle/>
          <a:p>
            <a:pPr indent="0" marL="0">
              <a:buNone/>
            </a:pPr>
            <a:r>
              <a:rPr lang="en-US" sz="1150" dirty="0">
                <a:solidFill>
                  <a:srgbClr val="5B6572"/>
                </a:solidFill>
                <a:latin typeface="Calibri" pitchFamily="34" charset="0"/>
                <a:ea typeface="Calibri" pitchFamily="34" charset="-122"/>
                <a:cs typeface="Calibri" pitchFamily="34" charset="-120"/>
              </a:rPr>
              <a:t>Frozen VideoMAEv2 turns each frame into numbers, computed causally</a:t>
            </a:r>
            <a:endParaRPr lang="en-US" sz="1150" dirty="0"/>
          </a:p>
        </p:txBody>
      </p:sp>
      <p:sp>
        <p:nvSpPr>
          <p:cNvPr id="9" name="Shape 7"/>
          <p:cNvSpPr/>
          <p:nvPr/>
        </p:nvSpPr>
        <p:spPr>
          <a:xfrm>
            <a:off x="3163824" y="2980944"/>
            <a:ext cx="201168" cy="237744"/>
          </a:xfrm>
          <a:prstGeom prst="rightArrow">
            <a:avLst/>
          </a:prstGeom>
          <a:solidFill>
            <a:srgbClr val="A9B6CA"/>
          </a:solidFill>
          <a:ln w="12700">
            <a:solidFill>
              <a:srgbClr val="A9B6CA"/>
            </a:solidFill>
            <a:prstDash val="solid"/>
          </a:ln>
        </p:spPr>
      </p:sp>
      <p:sp>
        <p:nvSpPr>
          <p:cNvPr id="10" name="Shape 8"/>
          <p:cNvSpPr/>
          <p:nvPr/>
        </p:nvSpPr>
        <p:spPr>
          <a:xfrm>
            <a:off x="3419856" y="1965960"/>
            <a:ext cx="2542032" cy="2286000"/>
          </a:xfrm>
          <a:prstGeom prst="roundRect">
            <a:avLst>
              <a:gd name="adj" fmla="val 3200"/>
            </a:avLst>
          </a:prstGeom>
          <a:solidFill>
            <a:srgbClr val="F2F5FA"/>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11" name="Shape 9"/>
          <p:cNvSpPr/>
          <p:nvPr/>
        </p:nvSpPr>
        <p:spPr>
          <a:xfrm>
            <a:off x="3639312" y="2176272"/>
            <a:ext cx="384048" cy="384048"/>
          </a:xfrm>
          <a:prstGeom prst="ellipse">
            <a:avLst/>
          </a:prstGeom>
          <a:solidFill>
            <a:srgbClr val="1E2761"/>
          </a:solidFill>
          <a:ln w="12700">
            <a:solidFill>
              <a:srgbClr val="1E2761"/>
            </a:solidFill>
            <a:prstDash val="solid"/>
          </a:ln>
        </p:spPr>
      </p:sp>
      <p:sp>
        <p:nvSpPr>
          <p:cNvPr id="12" name="Text 10"/>
          <p:cNvSpPr txBox="1"/>
          <p:nvPr/>
        </p:nvSpPr>
        <p:spPr>
          <a:xfrm>
            <a:off x="3639312" y="21762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3639312" y="2697480"/>
            <a:ext cx="2103120" cy="65836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Temporal</a:t>
            </a:r>
            <a:endParaRPr lang="en-US" sz="1500" dirty="0"/>
          </a:p>
          <a:p>
            <a:pPr indent="0" marL="0">
              <a:buNone/>
            </a:pPr>
            <a:r>
              <a:rPr lang="en-US" sz="1500" b="1" dirty="0">
                <a:solidFill>
                  <a:srgbClr val="1E2761"/>
                </a:solidFill>
                <a:latin typeface="Calibri" pitchFamily="34" charset="0"/>
                <a:ea typeface="Calibri" pitchFamily="34" charset="-122"/>
                <a:cs typeface="Calibri" pitchFamily="34" charset="-120"/>
              </a:rPr>
              <a:t>model</a:t>
            </a:r>
            <a:endParaRPr lang="en-US" sz="1500" dirty="0"/>
          </a:p>
        </p:txBody>
      </p:sp>
      <p:sp>
        <p:nvSpPr>
          <p:cNvPr id="14" name="Text 12"/>
          <p:cNvSpPr txBox="1"/>
          <p:nvPr/>
        </p:nvSpPr>
        <p:spPr>
          <a:xfrm>
            <a:off x="3639312" y="3401568"/>
            <a:ext cx="2103120" cy="749808"/>
          </a:xfrm>
          <a:prstGeom prst="rect">
            <a:avLst/>
          </a:prstGeom>
          <a:noFill/>
          <a:ln/>
        </p:spPr>
        <p:txBody>
          <a:bodyPr wrap="square" lIns="0" tIns="0" rIns="0" bIns="0" rtlCol="0" anchor="ctr"/>
          <a:lstStyle/>
          <a:p>
            <a:pPr indent="0" marL="0">
              <a:buNone/>
            </a:pPr>
            <a:r>
              <a:rPr lang="en-US" sz="1150" dirty="0">
                <a:solidFill>
                  <a:srgbClr val="5B6572"/>
                </a:solidFill>
                <a:latin typeface="Calibri" pitchFamily="34" charset="0"/>
                <a:ea typeface="Calibri" pitchFamily="34" charset="-122"/>
                <a:cs typeface="Calibri" pitchFamily="34" charset="-120"/>
              </a:rPr>
              <a:t>Causal GRU keeps state across the stream, emits per-frame scores</a:t>
            </a:r>
            <a:endParaRPr lang="en-US" sz="1150" dirty="0"/>
          </a:p>
        </p:txBody>
      </p:sp>
      <p:sp>
        <p:nvSpPr>
          <p:cNvPr id="15" name="Shape 13"/>
          <p:cNvSpPr/>
          <p:nvPr/>
        </p:nvSpPr>
        <p:spPr>
          <a:xfrm>
            <a:off x="6016752" y="2980944"/>
            <a:ext cx="201168" cy="237744"/>
          </a:xfrm>
          <a:prstGeom prst="rightArrow">
            <a:avLst/>
          </a:prstGeom>
          <a:solidFill>
            <a:srgbClr val="A9B6CA"/>
          </a:solidFill>
          <a:ln w="12700">
            <a:solidFill>
              <a:srgbClr val="A9B6CA"/>
            </a:solidFill>
            <a:prstDash val="solid"/>
          </a:ln>
        </p:spPr>
      </p:sp>
      <p:sp>
        <p:nvSpPr>
          <p:cNvPr id="16" name="Shape 14"/>
          <p:cNvSpPr/>
          <p:nvPr/>
        </p:nvSpPr>
        <p:spPr>
          <a:xfrm>
            <a:off x="6272784" y="1965960"/>
            <a:ext cx="2542032" cy="2286000"/>
          </a:xfrm>
          <a:prstGeom prst="roundRect">
            <a:avLst>
              <a:gd name="adj" fmla="val 3200"/>
            </a:avLst>
          </a:prstGeom>
          <a:solidFill>
            <a:srgbClr val="1E2761"/>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17" name="Shape 15"/>
          <p:cNvSpPr/>
          <p:nvPr/>
        </p:nvSpPr>
        <p:spPr>
          <a:xfrm>
            <a:off x="6492240" y="2176272"/>
            <a:ext cx="384048" cy="384048"/>
          </a:xfrm>
          <a:prstGeom prst="ellipse">
            <a:avLst/>
          </a:prstGeom>
          <a:solidFill>
            <a:srgbClr val="D7263D"/>
          </a:solidFill>
          <a:ln w="12700">
            <a:solidFill>
              <a:srgbClr val="D7263D"/>
            </a:solidFill>
            <a:prstDash val="solid"/>
          </a:ln>
        </p:spPr>
      </p:sp>
      <p:sp>
        <p:nvSpPr>
          <p:cNvPr id="18" name="Text 16"/>
          <p:cNvSpPr txBox="1"/>
          <p:nvPr/>
        </p:nvSpPr>
        <p:spPr>
          <a:xfrm>
            <a:off x="6492240" y="21762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6492240" y="2697480"/>
            <a:ext cx="2103120" cy="65836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Decision</a:t>
            </a:r>
            <a:endParaRPr lang="en-US" sz="1500" dirty="0"/>
          </a:p>
          <a:p>
            <a:pPr indent="0" marL="0">
              <a:buNone/>
            </a:pPr>
            <a:r>
              <a:rPr lang="en-US" sz="1500" b="1" dirty="0">
                <a:solidFill>
                  <a:srgbClr val="FFFFFF"/>
                </a:solidFill>
                <a:latin typeface="Calibri" pitchFamily="34" charset="0"/>
                <a:ea typeface="Calibri" pitchFamily="34" charset="-122"/>
                <a:cs typeface="Calibri" pitchFamily="34" charset="-120"/>
              </a:rPr>
              <a:t>layer</a:t>
            </a:r>
            <a:endParaRPr lang="en-US" sz="1500" dirty="0"/>
          </a:p>
        </p:txBody>
      </p:sp>
      <p:sp>
        <p:nvSpPr>
          <p:cNvPr id="20" name="Text 18"/>
          <p:cNvSpPr txBox="1"/>
          <p:nvPr/>
        </p:nvSpPr>
        <p:spPr>
          <a:xfrm>
            <a:off x="6492240" y="3401568"/>
            <a:ext cx="2103120" cy="749808"/>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Smoothing, hysteresis, persistence, refractory period → discrete alarms</a:t>
            </a:r>
            <a:endParaRPr lang="en-US" sz="1150" dirty="0"/>
          </a:p>
        </p:txBody>
      </p:sp>
      <p:sp>
        <p:nvSpPr>
          <p:cNvPr id="21" name="Shape 19"/>
          <p:cNvSpPr/>
          <p:nvPr/>
        </p:nvSpPr>
        <p:spPr>
          <a:xfrm>
            <a:off x="8869680" y="2980944"/>
            <a:ext cx="201168" cy="237744"/>
          </a:xfrm>
          <a:prstGeom prst="rightArrow">
            <a:avLst/>
          </a:prstGeom>
          <a:solidFill>
            <a:srgbClr val="A9B6CA"/>
          </a:solidFill>
          <a:ln w="12700">
            <a:solidFill>
              <a:srgbClr val="A9B6CA"/>
            </a:solidFill>
            <a:prstDash val="solid"/>
          </a:ln>
        </p:spPr>
      </p:sp>
      <p:sp>
        <p:nvSpPr>
          <p:cNvPr id="22" name="Shape 20"/>
          <p:cNvSpPr/>
          <p:nvPr/>
        </p:nvSpPr>
        <p:spPr>
          <a:xfrm>
            <a:off x="9125712" y="1965960"/>
            <a:ext cx="2542032" cy="2286000"/>
          </a:xfrm>
          <a:prstGeom prst="roundRect">
            <a:avLst>
              <a:gd name="adj" fmla="val 3200"/>
            </a:avLst>
          </a:prstGeom>
          <a:solidFill>
            <a:srgbClr val="F2F5FA"/>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23" name="Shape 21"/>
          <p:cNvSpPr/>
          <p:nvPr/>
        </p:nvSpPr>
        <p:spPr>
          <a:xfrm>
            <a:off x="9345168" y="2176272"/>
            <a:ext cx="384048" cy="384048"/>
          </a:xfrm>
          <a:prstGeom prst="ellipse">
            <a:avLst/>
          </a:prstGeom>
          <a:solidFill>
            <a:srgbClr val="1E2761"/>
          </a:solidFill>
          <a:ln w="12700">
            <a:solidFill>
              <a:srgbClr val="1E2761"/>
            </a:solidFill>
            <a:prstDash val="solid"/>
          </a:ln>
        </p:spPr>
      </p:sp>
      <p:sp>
        <p:nvSpPr>
          <p:cNvPr id="24" name="Text 22"/>
          <p:cNvSpPr txBox="1"/>
          <p:nvPr/>
        </p:nvSpPr>
        <p:spPr>
          <a:xfrm>
            <a:off x="9345168" y="21762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txBox="1"/>
          <p:nvPr/>
        </p:nvSpPr>
        <p:spPr>
          <a:xfrm>
            <a:off x="9345168" y="2697480"/>
            <a:ext cx="2103120" cy="65836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Evaluation</a:t>
            </a:r>
            <a:endParaRPr lang="en-US" sz="1500" dirty="0"/>
          </a:p>
        </p:txBody>
      </p:sp>
      <p:sp>
        <p:nvSpPr>
          <p:cNvPr id="26" name="Text 24"/>
          <p:cNvSpPr txBox="1"/>
          <p:nvPr/>
        </p:nvSpPr>
        <p:spPr>
          <a:xfrm>
            <a:off x="9345168" y="3401568"/>
            <a:ext cx="2103120" cy="749808"/>
          </a:xfrm>
          <a:prstGeom prst="rect">
            <a:avLst/>
          </a:prstGeom>
          <a:noFill/>
          <a:ln/>
        </p:spPr>
        <p:txBody>
          <a:bodyPr wrap="square" lIns="0" tIns="0" rIns="0" bIns="0" rtlCol="0" anchor="ctr"/>
          <a:lstStyle/>
          <a:p>
            <a:pPr indent="0" marL="0">
              <a:buNone/>
            </a:pPr>
            <a:r>
              <a:rPr lang="en-US" sz="1150" dirty="0">
                <a:solidFill>
                  <a:srgbClr val="5B6572"/>
                </a:solidFill>
                <a:latin typeface="Calibri" pitchFamily="34" charset="0"/>
                <a:ea typeface="Calibri" pitchFamily="34" charset="-122"/>
                <a:cs typeface="Calibri" pitchFamily="34" charset="-120"/>
              </a:rPr>
              <a:t>Events scored against ground truth: latency vs false alarms per hour</a:t>
            </a:r>
            <a:endParaRPr lang="en-US" sz="1150" dirty="0"/>
          </a:p>
        </p:txBody>
      </p:sp>
      <p:sp>
        <p:nvSpPr>
          <p:cNvPr id="27" name="Text 25"/>
          <p:cNvSpPr txBox="1"/>
          <p:nvPr/>
        </p:nvSpPr>
        <p:spPr>
          <a:xfrm>
            <a:off x="566928" y="4526280"/>
            <a:ext cx="10881360" cy="365760"/>
          </a:xfrm>
          <a:prstGeom prst="rect">
            <a:avLst/>
          </a:prstGeom>
          <a:noFill/>
          <a:ln/>
        </p:spPr>
        <p:txBody>
          <a:bodyPr wrap="square" lIns="0" tIns="0" rIns="0" bIns="0" rtlCol="0" anchor="ctr"/>
          <a:lstStyle/>
          <a:p>
            <a:pPr indent="0" marL="0">
              <a:buNone/>
            </a:pPr>
            <a:r>
              <a:rPr lang="en-US" sz="1350" dirty="0">
                <a:solidFill>
                  <a:srgbClr val="1A1A1A"/>
                </a:solidFill>
                <a:latin typeface="Calibri" pitchFamily="34" charset="0"/>
                <a:ea typeface="Calibri" pitchFamily="34" charset="-122"/>
                <a:cs typeface="Calibri" pitchFamily="34" charset="-120"/>
              </a:rPr>
              <a:t>Every temporal operation in stages 1–3 is strictly causal, and each is covered by the truncation test.</a:t>
            </a:r>
            <a:endParaRPr lang="en-US" sz="1350" dirty="0"/>
          </a:p>
        </p:txBody>
      </p:sp>
      <p:sp>
        <p:nvSpPr>
          <p:cNvPr id="28" name="Shape 26"/>
          <p:cNvSpPr/>
          <p:nvPr/>
        </p:nvSpPr>
        <p:spPr>
          <a:xfrm>
            <a:off x="566928" y="5029200"/>
            <a:ext cx="10881360" cy="960120"/>
          </a:xfrm>
          <a:prstGeom prst="roundRect">
            <a:avLst>
              <a:gd name="adj" fmla="val 7619"/>
            </a:avLst>
          </a:prstGeom>
          <a:solidFill>
            <a:srgbClr val="EAF0FA"/>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29" name="Text 27"/>
          <p:cNvSpPr txBox="1"/>
          <p:nvPr/>
        </p:nvSpPr>
        <p:spPr>
          <a:xfrm>
            <a:off x="859536" y="5212080"/>
            <a:ext cx="10332720" cy="640080"/>
          </a:xfrm>
          <a:prstGeom prst="rect">
            <a:avLst/>
          </a:prstGeom>
          <a:noFill/>
          <a:ln/>
        </p:spPr>
        <p:txBody>
          <a:bodyPr wrap="square" lIns="0" tIns="0" rIns="0" bIns="0"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The decision layer is the contribution most often skipped in published work — it is treated here as a first-class, ablatable component with every parameter exposed in configuration.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00" b="1" spc="200" kern="0" dirty="0">
                <a:solidFill>
                  <a:srgbClr val="D7263D"/>
                </a:solidFill>
                <a:latin typeface="Calibri" pitchFamily="34" charset="0"/>
                <a:ea typeface="Calibri" pitchFamily="34" charset="-122"/>
                <a:cs typeface="Calibri" pitchFamily="34" charset="-120"/>
              </a:rPr>
              <a:t>METHODOLOGY</a:t>
            </a:r>
            <a:endParaRPr lang="en-US" sz="1100" dirty="0"/>
          </a:p>
        </p:txBody>
      </p:sp>
      <p:sp>
        <p:nvSpPr>
          <p:cNvPr id="3" name="Text 1"/>
          <p:cNvSpPr txBox="1"/>
          <p:nvPr/>
        </p:nvSpPr>
        <p:spPr>
          <a:xfrm>
            <a:off x="566928" y="640080"/>
            <a:ext cx="11055096" cy="89611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Splitting by person, not by video</a:t>
            </a:r>
            <a:endParaRPr lang="en-US" sz="3200" dirty="0"/>
          </a:p>
        </p:txBody>
      </p:sp>
      <p:sp>
        <p:nvSpPr>
          <p:cNvPr id="4" name="Text 2"/>
          <p:cNvSpPr txBox="1"/>
          <p:nvPr/>
        </p:nvSpPr>
        <p:spPr>
          <a:xfrm>
            <a:off x="566928" y="1645920"/>
            <a:ext cx="10881360" cy="45720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If the same person appears in training and test, the model recognises the individual rather than the gesture. The score is inflated and the failure is invisible.</a:t>
            </a:r>
            <a:endParaRPr lang="en-US" sz="1450" dirty="0"/>
          </a:p>
        </p:txBody>
      </p:sp>
      <p:sp>
        <p:nvSpPr>
          <p:cNvPr id="5" name="Shape 3"/>
          <p:cNvSpPr/>
          <p:nvPr/>
        </p:nvSpPr>
        <p:spPr>
          <a:xfrm>
            <a:off x="566928" y="2331720"/>
            <a:ext cx="3429000" cy="1371600"/>
          </a:xfrm>
          <a:prstGeom prst="roundRect">
            <a:avLst>
              <a:gd name="adj" fmla="val 5333"/>
            </a:avLst>
          </a:prstGeom>
          <a:solidFill>
            <a:srgbClr val="1E2761"/>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6" name="Text 4"/>
          <p:cNvSpPr txBox="1"/>
          <p:nvPr/>
        </p:nvSpPr>
        <p:spPr>
          <a:xfrm>
            <a:off x="841248" y="2514600"/>
            <a:ext cx="283464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Train</a:t>
            </a:r>
            <a:endParaRPr lang="en-US" sz="1500" dirty="0"/>
          </a:p>
        </p:txBody>
      </p:sp>
      <p:sp>
        <p:nvSpPr>
          <p:cNvPr id="7" name="Text 5"/>
          <p:cNvSpPr txBox="1"/>
          <p:nvPr/>
        </p:nvSpPr>
        <p:spPr>
          <a:xfrm>
            <a:off x="841248" y="2889504"/>
            <a:ext cx="2880360" cy="4754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30 subjects   ·   120 videos</a:t>
            </a:r>
            <a:endParaRPr lang="en-US" sz="1600" dirty="0"/>
          </a:p>
        </p:txBody>
      </p:sp>
      <p:sp>
        <p:nvSpPr>
          <p:cNvPr id="8" name="Shape 6"/>
          <p:cNvSpPr/>
          <p:nvPr/>
        </p:nvSpPr>
        <p:spPr>
          <a:xfrm>
            <a:off x="4297680" y="2331720"/>
            <a:ext cx="3429000" cy="1371600"/>
          </a:xfrm>
          <a:prstGeom prst="roundRect">
            <a:avLst>
              <a:gd name="adj" fmla="val 5333"/>
            </a:avLst>
          </a:prstGeom>
          <a:solidFill>
            <a:srgbClr val="47608E"/>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9" name="Text 7"/>
          <p:cNvSpPr txBox="1"/>
          <p:nvPr/>
        </p:nvSpPr>
        <p:spPr>
          <a:xfrm>
            <a:off x="4572000" y="2514600"/>
            <a:ext cx="283464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Validation</a:t>
            </a:r>
            <a:endParaRPr lang="en-US" sz="1500" dirty="0"/>
          </a:p>
        </p:txBody>
      </p:sp>
      <p:sp>
        <p:nvSpPr>
          <p:cNvPr id="10" name="Text 8"/>
          <p:cNvSpPr txBox="1"/>
          <p:nvPr/>
        </p:nvSpPr>
        <p:spPr>
          <a:xfrm>
            <a:off x="4572000" y="2889504"/>
            <a:ext cx="2880360" cy="4754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7 subjects   ·   28 videos</a:t>
            </a:r>
            <a:endParaRPr lang="en-US" sz="1600" dirty="0"/>
          </a:p>
        </p:txBody>
      </p:sp>
      <p:sp>
        <p:nvSpPr>
          <p:cNvPr id="11" name="Shape 9"/>
          <p:cNvSpPr/>
          <p:nvPr/>
        </p:nvSpPr>
        <p:spPr>
          <a:xfrm>
            <a:off x="8028432" y="2331720"/>
            <a:ext cx="3429000" cy="1371600"/>
          </a:xfrm>
          <a:prstGeom prst="roundRect">
            <a:avLst>
              <a:gd name="adj" fmla="val 5333"/>
            </a:avLst>
          </a:prstGeom>
          <a:solidFill>
            <a:srgbClr val="D7263D"/>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12" name="Text 10"/>
          <p:cNvSpPr txBox="1"/>
          <p:nvPr/>
        </p:nvSpPr>
        <p:spPr>
          <a:xfrm>
            <a:off x="8302752" y="2514600"/>
            <a:ext cx="283464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Test</a:t>
            </a:r>
            <a:endParaRPr lang="en-US" sz="1500" dirty="0"/>
          </a:p>
        </p:txBody>
      </p:sp>
      <p:sp>
        <p:nvSpPr>
          <p:cNvPr id="13" name="Text 11"/>
          <p:cNvSpPr txBox="1"/>
          <p:nvPr/>
        </p:nvSpPr>
        <p:spPr>
          <a:xfrm>
            <a:off x="8302752" y="2889504"/>
            <a:ext cx="2880360" cy="4754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13 subjects   ·   52 videos</a:t>
            </a:r>
            <a:endParaRPr lang="en-US" sz="1600" dirty="0"/>
          </a:p>
        </p:txBody>
      </p:sp>
      <p:sp>
        <p:nvSpPr>
          <p:cNvPr id="14" name="Shape 12"/>
          <p:cNvSpPr/>
          <p:nvPr/>
        </p:nvSpPr>
        <p:spPr>
          <a:xfrm>
            <a:off x="603504" y="4005072"/>
            <a:ext cx="118872" cy="118872"/>
          </a:xfrm>
          <a:prstGeom prst="ellipse">
            <a:avLst/>
          </a:prstGeom>
          <a:solidFill>
            <a:srgbClr val="D7263D"/>
          </a:solidFill>
          <a:ln w="12700">
            <a:solidFill>
              <a:srgbClr val="D7263D"/>
            </a:solidFill>
            <a:prstDash val="solid"/>
          </a:ln>
        </p:spPr>
      </p:sp>
      <p:sp>
        <p:nvSpPr>
          <p:cNvPr id="15" name="Text 13"/>
          <p:cNvSpPr txBox="1"/>
          <p:nvPr/>
        </p:nvSpPr>
        <p:spPr>
          <a:xfrm>
            <a:off x="914400" y="3931920"/>
            <a:ext cx="1042416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The test set is the dataset authors’ own partition, not one we chose.</a:t>
            </a:r>
            <a:endParaRPr lang="en-US" sz="1350" dirty="0"/>
          </a:p>
        </p:txBody>
      </p:sp>
      <p:sp>
        <p:nvSpPr>
          <p:cNvPr id="16" name="Text 14"/>
          <p:cNvSpPr txBox="1"/>
          <p:nvPr/>
        </p:nvSpPr>
        <p:spPr>
          <a:xfrm>
            <a:off x="914400" y="4206240"/>
            <a:ext cx="10424160" cy="310896"/>
          </a:xfrm>
          <a:prstGeom prst="rect">
            <a:avLst/>
          </a:prstGeom>
          <a:noFill/>
          <a:ln/>
        </p:spPr>
        <p:txBody>
          <a:bodyPr wrap="square" lIns="0" tIns="0" rIns="0" bIns="0" rtlCol="0" anchor="ctr"/>
          <a:lstStyle/>
          <a:p>
            <a:pPr indent="0" marL="0">
              <a:buNone/>
            </a:pPr>
            <a:r>
              <a:rPr lang="en-US" sz="1200" dirty="0">
                <a:solidFill>
                  <a:srgbClr val="5B6572"/>
                </a:solidFill>
                <a:latin typeface="Calibri" pitchFamily="34" charset="0"/>
                <a:ea typeface="Calibri" pitchFamily="34" charset="-122"/>
                <a:cs typeface="Calibri" pitchFamily="34" charset="-120"/>
              </a:rPr>
              <a:t>Nobody can ask whether several splits were tried until one looked favourable.</a:t>
            </a:r>
            <a:endParaRPr lang="en-US" sz="1200" dirty="0"/>
          </a:p>
        </p:txBody>
      </p:sp>
      <p:sp>
        <p:nvSpPr>
          <p:cNvPr id="17" name="Shape 15"/>
          <p:cNvSpPr/>
          <p:nvPr/>
        </p:nvSpPr>
        <p:spPr>
          <a:xfrm>
            <a:off x="603504" y="4718304"/>
            <a:ext cx="118872" cy="118872"/>
          </a:xfrm>
          <a:prstGeom prst="ellipse">
            <a:avLst/>
          </a:prstGeom>
          <a:solidFill>
            <a:srgbClr val="D7263D"/>
          </a:solidFill>
          <a:ln w="12700">
            <a:solidFill>
              <a:srgbClr val="D7263D"/>
            </a:solidFill>
            <a:prstDash val="solid"/>
          </a:ln>
        </p:spPr>
      </p:sp>
      <p:sp>
        <p:nvSpPr>
          <p:cNvPr id="18" name="Text 16"/>
          <p:cNvSpPr txBox="1"/>
          <p:nvPr/>
        </p:nvSpPr>
        <p:spPr>
          <a:xfrm>
            <a:off x="914400" y="4645152"/>
            <a:ext cx="1042416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The split is frozen to disk and kept under version control.</a:t>
            </a:r>
            <a:endParaRPr lang="en-US" sz="1350" dirty="0"/>
          </a:p>
        </p:txBody>
      </p:sp>
      <p:sp>
        <p:nvSpPr>
          <p:cNvPr id="19" name="Text 17"/>
          <p:cNvSpPr txBox="1"/>
          <p:nvPr/>
        </p:nvSpPr>
        <p:spPr>
          <a:xfrm>
            <a:off x="914400" y="4919472"/>
            <a:ext cx="10424160" cy="310896"/>
          </a:xfrm>
          <a:prstGeom prst="rect">
            <a:avLst/>
          </a:prstGeom>
          <a:noFill/>
          <a:ln/>
        </p:spPr>
        <p:txBody>
          <a:bodyPr wrap="square" lIns="0" tIns="0" rIns="0" bIns="0" rtlCol="0" anchor="ctr"/>
          <a:lstStyle/>
          <a:p>
            <a:pPr indent="0" marL="0">
              <a:buNone/>
            </a:pPr>
            <a:r>
              <a:rPr lang="en-US" sz="1200" dirty="0">
                <a:solidFill>
                  <a:srgbClr val="5B6572"/>
                </a:solidFill>
                <a:latin typeface="Calibri" pitchFamily="34" charset="0"/>
                <a:ea typeface="Calibri" pitchFamily="34" charset="-122"/>
                <a:cs typeface="Calibri" pitchFamily="34" charset="-120"/>
              </a:rPr>
              <a:t>It carries a digest of the subject list and is refused if the dataset changes.</a:t>
            </a:r>
            <a:endParaRPr lang="en-US" sz="1200" dirty="0"/>
          </a:p>
        </p:txBody>
      </p:sp>
      <p:sp>
        <p:nvSpPr>
          <p:cNvPr id="20" name="Shape 18"/>
          <p:cNvSpPr/>
          <p:nvPr/>
        </p:nvSpPr>
        <p:spPr>
          <a:xfrm>
            <a:off x="603504" y="5431536"/>
            <a:ext cx="118872" cy="118872"/>
          </a:xfrm>
          <a:prstGeom prst="ellipse">
            <a:avLst/>
          </a:prstGeom>
          <a:solidFill>
            <a:srgbClr val="D7263D"/>
          </a:solidFill>
          <a:ln w="12700">
            <a:solidFill>
              <a:srgbClr val="D7263D"/>
            </a:solidFill>
            <a:prstDash val="solid"/>
          </a:ln>
        </p:spPr>
      </p:sp>
      <p:sp>
        <p:nvSpPr>
          <p:cNvPr id="21" name="Text 19"/>
          <p:cNvSpPr txBox="1"/>
          <p:nvPr/>
        </p:nvSpPr>
        <p:spPr>
          <a:xfrm>
            <a:off x="914400" y="5358384"/>
            <a:ext cx="1042416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Cross-validation uses five leave-one-subject-group-out folds.</a:t>
            </a:r>
            <a:endParaRPr lang="en-US" sz="1350" dirty="0"/>
          </a:p>
        </p:txBody>
      </p:sp>
      <p:sp>
        <p:nvSpPr>
          <p:cNvPr id="22" name="Text 20"/>
          <p:cNvSpPr txBox="1"/>
          <p:nvPr/>
        </p:nvSpPr>
        <p:spPr>
          <a:xfrm>
            <a:off x="914400" y="5632704"/>
            <a:ext cx="10424160" cy="310896"/>
          </a:xfrm>
          <a:prstGeom prst="rect">
            <a:avLst/>
          </a:prstGeom>
          <a:noFill/>
          <a:ln/>
        </p:spPr>
        <p:txBody>
          <a:bodyPr wrap="square" lIns="0" tIns="0" rIns="0" bIns="0" rtlCol="0" anchor="ctr"/>
          <a:lstStyle/>
          <a:p>
            <a:pPr indent="0" marL="0">
              <a:buNone/>
            </a:pPr>
            <a:r>
              <a:rPr lang="en-US" sz="1200" dirty="0">
                <a:solidFill>
                  <a:srgbClr val="5B6572"/>
                </a:solidFill>
                <a:latin typeface="Calibri" pitchFamily="34" charset="0"/>
                <a:ea typeface="Calibri" pitchFamily="34" charset="-122"/>
                <a:cs typeface="Calibri" pitchFamily="34" charset="-120"/>
              </a:rPr>
              <a:t>The primary validation set is one of those folds promoted, so CV is a strict superset of the headline experiment.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00" b="1" spc="200" kern="0" dirty="0">
                <a:solidFill>
                  <a:srgbClr val="D7263D"/>
                </a:solidFill>
                <a:latin typeface="Calibri" pitchFamily="34" charset="0"/>
                <a:ea typeface="Calibri" pitchFamily="34" charset="-122"/>
                <a:cs typeface="Calibri" pitchFamily="34" charset="-120"/>
              </a:rPr>
              <a:t>PROGRESS</a:t>
            </a:r>
            <a:endParaRPr lang="en-US" sz="1100" dirty="0"/>
          </a:p>
        </p:txBody>
      </p:sp>
      <p:sp>
        <p:nvSpPr>
          <p:cNvPr id="3" name="Text 1"/>
          <p:cNvSpPr txBox="1"/>
          <p:nvPr/>
        </p:nvSpPr>
        <p:spPr>
          <a:xfrm>
            <a:off x="566928" y="640080"/>
            <a:ext cx="11055096" cy="89611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Where the work stands</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0881360" cy="914400"/>
        </p:xfrm>
        <a:graphic>
          <a:graphicData uri="http://schemas.openxmlformats.org/drawingml/2006/table">
            <a:tbl>
              <a:tblPr/>
              <a:tblGrid>
                <a:gridCol w="1005840"/>
                <a:gridCol w="6949440"/>
                <a:gridCol w="2926080"/>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Stage</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1E276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Content</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1E276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Status</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1E2761"/>
                    </a:solidFill>
                  </a:tcPr>
                </a:tc>
              </a:tr>
              <a:tr h="365760">
                <a:tc>
                  <a:txBody>
                    <a:bodyPr/>
                    <a:lstStyle/>
                    <a:p>
                      <a:pPr indent="0" marL="0">
                        <a:buNone/>
                      </a:pPr>
                      <a:r>
                        <a:rPr lang="en-US" sz="1250" dirty="0">
                          <a:solidFill>
                            <a:srgbClr val="1E2761"/>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250" dirty="0">
                          <a:solidFill>
                            <a:srgbClr val="1E2761"/>
                          </a:solidFill>
                          <a:latin typeface="Calibri" pitchFamily="34" charset="0"/>
                          <a:ea typeface="Calibri" pitchFamily="34" charset="-122"/>
                          <a:cs typeface="Calibri" pitchFamily="34" charset="-120"/>
                        </a:rPr>
                        <a:t>Canonical data format and configuration system</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250" b="1" dirty="0">
                          <a:solidFill>
                            <a:srgbClr val="1E7B4F"/>
                          </a:solidFill>
                          <a:latin typeface="Calibri" pitchFamily="34" charset="0"/>
                          <a:ea typeface="Calibri" pitchFamily="34" charset="-122"/>
                          <a:cs typeface="Calibri" pitchFamily="34" charset="-120"/>
                        </a:rPr>
                        <a:t>Complete</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r>
              <a:tr h="365760">
                <a:tc>
                  <a:txBody>
                    <a:bodyPr/>
                    <a:lstStyle/>
                    <a:p>
                      <a:pPr indent="0" marL="0">
                        <a:buNone/>
                      </a:pPr>
                      <a:r>
                        <a:rPr lang="en-US" sz="1250" dirty="0">
                          <a:solidFill>
                            <a:srgbClr val="1E2761"/>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250" dirty="0">
                          <a:solidFill>
                            <a:srgbClr val="1E2761"/>
                          </a:solidFill>
                          <a:latin typeface="Calibri" pitchFamily="34" charset="0"/>
                          <a:ea typeface="Calibri" pitchFamily="34" charset="-122"/>
                          <a:cs typeface="Calibri" pitchFamily="34" charset="-120"/>
                        </a:rPr>
                        <a:t>Dataset acquisition, adapter, verification</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250" b="1" dirty="0">
                          <a:solidFill>
                            <a:srgbClr val="1E7B4F"/>
                          </a:solidFill>
                          <a:latin typeface="Calibri" pitchFamily="34" charset="0"/>
                          <a:ea typeface="Calibri" pitchFamily="34" charset="-122"/>
                          <a:cs typeface="Calibri" pitchFamily="34" charset="-120"/>
                        </a:rPr>
                        <a:t>Complete</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r>
              <a:tr h="365760">
                <a:tc>
                  <a:txBody>
                    <a:bodyPr/>
                    <a:lstStyle/>
                    <a:p>
                      <a:pPr indent="0" marL="0">
                        <a:buNone/>
                      </a:pPr>
                      <a:r>
                        <a:rPr lang="en-US" sz="1250" dirty="0">
                          <a:solidFill>
                            <a:srgbClr val="1E2761"/>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250" dirty="0">
                          <a:solidFill>
                            <a:srgbClr val="1E2761"/>
                          </a:solidFill>
                          <a:latin typeface="Calibri" pitchFamily="34" charset="0"/>
                          <a:ea typeface="Calibri" pitchFamily="34" charset="-122"/>
                          <a:cs typeface="Calibri" pitchFamily="34" charset="-120"/>
                        </a:rPr>
                        <a:t>Frozen subject-disjoint splits and LOSGO folds</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250" b="1" dirty="0">
                          <a:solidFill>
                            <a:srgbClr val="1E7B4F"/>
                          </a:solidFill>
                          <a:latin typeface="Calibri" pitchFamily="34" charset="0"/>
                          <a:ea typeface="Calibri" pitchFamily="34" charset="-122"/>
                          <a:cs typeface="Calibri" pitchFamily="34" charset="-120"/>
                        </a:rPr>
                        <a:t>Complete</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r>
              <a:tr h="365760">
                <a:tc>
                  <a:txBody>
                    <a:bodyPr/>
                    <a:lstStyle/>
                    <a:p>
                      <a:pPr indent="0" marL="0">
                        <a:buNone/>
                      </a:pPr>
                      <a:r>
                        <a:rPr lang="en-US" sz="1250" dirty="0">
                          <a:solidFill>
                            <a:srgbClr val="1E2761"/>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DEEF0"/>
                    </a:solidFill>
                  </a:tcPr>
                </a:tc>
                <a:tc>
                  <a:txBody>
                    <a:bodyPr/>
                    <a:lstStyle/>
                    <a:p>
                      <a:pPr indent="0" marL="0">
                        <a:buNone/>
                      </a:pPr>
                      <a:r>
                        <a:rPr lang="en-US" sz="1250" dirty="0">
                          <a:solidFill>
                            <a:srgbClr val="1E2761"/>
                          </a:solidFill>
                          <a:latin typeface="Calibri" pitchFamily="34" charset="0"/>
                          <a:ea typeface="Calibri" pitchFamily="34" charset="-122"/>
                          <a:cs typeface="Calibri" pitchFamily="34" charset="-120"/>
                        </a:rPr>
                        <a:t>Two-stream feature extraction and caching</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DEEF0"/>
                    </a:solidFill>
                  </a:tcPr>
                </a:tc>
                <a:tc>
                  <a:txBody>
                    <a:bodyPr/>
                    <a:lstStyle/>
                    <a:p>
                      <a:pPr indent="0" marL="0">
                        <a:buNone/>
                      </a:pPr>
                      <a:r>
                        <a:rPr lang="en-US" sz="1250" b="1" dirty="0">
                          <a:solidFill>
                            <a:srgbClr val="D7263D"/>
                          </a:solidFill>
                          <a:latin typeface="Calibri" pitchFamily="34" charset="0"/>
                          <a:ea typeface="Calibri" pitchFamily="34" charset="-122"/>
                          <a:cs typeface="Calibri" pitchFamily="34" charset="-120"/>
                        </a:rPr>
                        <a:t>In progress</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DEEF0"/>
                    </a:solidFill>
                  </a:tcPr>
                </a:tc>
              </a:tr>
              <a:tr h="365760">
                <a:tc>
                  <a:txBody>
                    <a:bodyPr/>
                    <a:lstStyle/>
                    <a:p>
                      <a:pPr indent="0" marL="0">
                        <a:buNone/>
                      </a:pPr>
                      <a:r>
                        <a:rPr lang="en-US" sz="1250" dirty="0">
                          <a:solidFill>
                            <a:srgbClr val="1E2761"/>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250" dirty="0">
                          <a:solidFill>
                            <a:srgbClr val="1E2761"/>
                          </a:solidFill>
                          <a:latin typeface="Calibri" pitchFamily="34" charset="0"/>
                          <a:ea typeface="Calibri" pitchFamily="34" charset="-122"/>
                          <a:cs typeface="Calibri" pitchFamily="34" charset="-120"/>
                        </a:rPr>
                        <a:t>Baselines and full evaluation harness</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250" dirty="0">
                          <a:solidFill>
                            <a:srgbClr val="97A3B6"/>
                          </a:solidFill>
                          <a:latin typeface="Calibri" pitchFamily="34" charset="0"/>
                          <a:ea typeface="Calibri" pitchFamily="34" charset="-122"/>
                          <a:cs typeface="Calibri" pitchFamily="34" charset="-120"/>
                        </a:rPr>
                        <a:t>Not started</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r>
              <a:tr h="365760">
                <a:tc>
                  <a:txBody>
                    <a:bodyPr/>
                    <a:lstStyle/>
                    <a:p>
                      <a:pPr indent="0" marL="0">
                        <a:buNone/>
                      </a:pPr>
                      <a:r>
                        <a:rPr lang="en-US" sz="1250" dirty="0">
                          <a:solidFill>
                            <a:srgbClr val="1E2761"/>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250" dirty="0">
                          <a:solidFill>
                            <a:srgbClr val="1E2761"/>
                          </a:solidFill>
                          <a:latin typeface="Calibri" pitchFamily="34" charset="0"/>
                          <a:ea typeface="Calibri" pitchFamily="34" charset="-122"/>
                          <a:cs typeface="Calibri" pitchFamily="34" charset="-120"/>
                        </a:rPr>
                        <a:t>Proposed model</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250" dirty="0">
                          <a:solidFill>
                            <a:srgbClr val="97A3B6"/>
                          </a:solidFill>
                          <a:latin typeface="Calibri" pitchFamily="34" charset="0"/>
                          <a:ea typeface="Calibri" pitchFamily="34" charset="-122"/>
                          <a:cs typeface="Calibri" pitchFamily="34" charset="-120"/>
                        </a:rPr>
                        <a:t>Not started</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r>
              <a:tr h="365760">
                <a:tc>
                  <a:txBody>
                    <a:bodyPr/>
                    <a:lstStyle/>
                    <a:p>
                      <a:pPr indent="0" marL="0">
                        <a:buNone/>
                      </a:pPr>
                      <a:r>
                        <a:rPr lang="en-US" sz="1250" dirty="0">
                          <a:solidFill>
                            <a:srgbClr val="1E2761"/>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250" dirty="0">
                          <a:solidFill>
                            <a:srgbClr val="1E2761"/>
                          </a:solidFill>
                          <a:latin typeface="Calibri" pitchFamily="34" charset="0"/>
                          <a:ea typeface="Calibri" pitchFamily="34" charset="-122"/>
                          <a:cs typeface="Calibri" pitchFamily="34" charset="-120"/>
                        </a:rPr>
                        <a:t>Online decision layer</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250" dirty="0">
                          <a:solidFill>
                            <a:srgbClr val="97A3B6"/>
                          </a:solidFill>
                          <a:latin typeface="Calibri" pitchFamily="34" charset="0"/>
                          <a:ea typeface="Calibri" pitchFamily="34" charset="-122"/>
                          <a:cs typeface="Calibri" pitchFamily="34" charset="-120"/>
                        </a:rPr>
                        <a:t>Not started</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r>
              <a:tr h="365760">
                <a:tc>
                  <a:txBody>
                    <a:bodyPr/>
                    <a:lstStyle/>
                    <a:p>
                      <a:pPr indent="0" marL="0">
                        <a:buNone/>
                      </a:pPr>
                      <a:r>
                        <a:rPr lang="en-US" sz="1250" dirty="0">
                          <a:solidFill>
                            <a:srgbClr val="1E2761"/>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250" dirty="0">
                          <a:solidFill>
                            <a:srgbClr val="1E2761"/>
                          </a:solidFill>
                          <a:latin typeface="Calibri" pitchFamily="34" charset="0"/>
                          <a:ea typeface="Calibri" pitchFamily="34" charset="-122"/>
                          <a:cs typeface="Calibri" pitchFamily="34" charset="-120"/>
                        </a:rPr>
                        <a:t>Metrics and headline figure</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250" dirty="0">
                          <a:solidFill>
                            <a:srgbClr val="97A3B6"/>
                          </a:solidFill>
                          <a:latin typeface="Calibri" pitchFamily="34" charset="0"/>
                          <a:ea typeface="Calibri" pitchFamily="34" charset="-122"/>
                          <a:cs typeface="Calibri" pitchFamily="34" charset="-120"/>
                        </a:rPr>
                        <a:t>Not started</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r>
              <a:tr h="365760">
                <a:tc>
                  <a:txBody>
                    <a:bodyPr/>
                    <a:lstStyle/>
                    <a:p>
                      <a:pPr indent="0" marL="0">
                        <a:buNone/>
                      </a:pPr>
                      <a:r>
                        <a:rPr lang="en-US" sz="1250" dirty="0">
                          <a:solidFill>
                            <a:srgbClr val="1E2761"/>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250" dirty="0">
                          <a:solidFill>
                            <a:srgbClr val="1E2761"/>
                          </a:solidFill>
                          <a:latin typeface="Calibri" pitchFamily="34" charset="0"/>
                          <a:ea typeface="Calibri" pitchFamily="34" charset="-122"/>
                          <a:cs typeface="Calibri" pitchFamily="34" charset="-120"/>
                        </a:rPr>
                        <a:t>Ablations and failure analysis</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c>
                  <a:txBody>
                    <a:bodyPr/>
                    <a:lstStyle/>
                    <a:p>
                      <a:pPr indent="0" marL="0">
                        <a:buNone/>
                      </a:pPr>
                      <a:r>
                        <a:rPr lang="en-US" sz="1250" dirty="0">
                          <a:solidFill>
                            <a:srgbClr val="97A3B6"/>
                          </a:solidFill>
                          <a:latin typeface="Calibri" pitchFamily="34" charset="0"/>
                          <a:ea typeface="Calibri" pitchFamily="34" charset="-122"/>
                          <a:cs typeface="Calibri" pitchFamily="34" charset="-120"/>
                        </a:rPr>
                        <a:t>Not started</a:t>
                      </a:r>
                      <a:endParaRPr lang="en-US" sz="1250" dirty="0">
                        <a:latin typeface="Calibri" charset="0"/>
                        <a:ea typeface="Calibri" charset="0"/>
                        <a:cs typeface="Calibri" charset="0"/>
                      </a:endParaRPr>
                    </a:p>
                  </a:txBody>
                  <a:tcPr marL="88900" marR="88900" marT="88900" marB="8890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66928" y="5715000"/>
            <a:ext cx="10881360" cy="502920"/>
          </a:xfrm>
          <a:prstGeom prst="rect">
            <a:avLst/>
          </a:prstGeom>
          <a:noFill/>
          <a:ln/>
        </p:spPr>
        <p:txBody>
          <a:bodyPr wrap="square" lIns="0" tIns="0" rIns="0" bIns="0" rtlCol="0" anchor="ctr"/>
          <a:lstStyle/>
          <a:p>
            <a:pPr indent="0" marL="0">
              <a:buNone/>
            </a:pPr>
            <a:r>
              <a:rPr lang="en-US" sz="1350" dirty="0">
                <a:solidFill>
                  <a:srgbClr val="1A1A1A"/>
                </a:solidFill>
                <a:latin typeface="Calibri" pitchFamily="34" charset="0"/>
                <a:ea typeface="Calibri" pitchFamily="34" charset="-122"/>
                <a:cs typeface="Calibri" pitchFamily="34" charset="-120"/>
              </a:rPr>
              <a:t>No model has been trained and no detection results exist yet. Stages 0–3 are foundations — and each defect on the next slide would have produced a plausible but wrong number rather than a visible error.</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00" b="1" spc="200" kern="0" dirty="0">
                <a:solidFill>
                  <a:srgbClr val="D7263D"/>
                </a:solidFill>
                <a:latin typeface="Calibri" pitchFamily="34" charset="0"/>
                <a:ea typeface="Calibri" pitchFamily="34" charset="-122"/>
                <a:cs typeface="Calibri" pitchFamily="34" charset="-120"/>
              </a:rPr>
              <a:t>PROGRESS  ·  KEY OUTCOME</a:t>
            </a:r>
            <a:endParaRPr lang="en-US" sz="1100" dirty="0"/>
          </a:p>
        </p:txBody>
      </p:sp>
      <p:sp>
        <p:nvSpPr>
          <p:cNvPr id="3" name="Text 1"/>
          <p:cNvSpPr txBox="1"/>
          <p:nvPr/>
        </p:nvSpPr>
        <p:spPr>
          <a:xfrm>
            <a:off x="566928" y="640080"/>
            <a:ext cx="11055096" cy="89611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Three defects found before they reached a result</a:t>
            </a:r>
            <a:endParaRPr lang="en-US" sz="3200" dirty="0"/>
          </a:p>
        </p:txBody>
      </p:sp>
      <p:sp>
        <p:nvSpPr>
          <p:cNvPr id="4" name="Shape 2"/>
          <p:cNvSpPr/>
          <p:nvPr/>
        </p:nvSpPr>
        <p:spPr>
          <a:xfrm>
            <a:off x="566928" y="1783080"/>
            <a:ext cx="10881360" cy="1152144"/>
          </a:xfrm>
          <a:prstGeom prst="roundRect">
            <a:avLst>
              <a:gd name="adj" fmla="val 6349"/>
            </a:avLst>
          </a:prstGeom>
          <a:solidFill>
            <a:srgbClr val="F2F5FA"/>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5" name="Shape 3"/>
          <p:cNvSpPr/>
          <p:nvPr/>
        </p:nvSpPr>
        <p:spPr>
          <a:xfrm>
            <a:off x="841248" y="2167128"/>
            <a:ext cx="384048" cy="384048"/>
          </a:xfrm>
          <a:prstGeom prst="ellipse">
            <a:avLst/>
          </a:prstGeom>
          <a:solidFill>
            <a:srgbClr val="D7263D"/>
          </a:solidFill>
          <a:ln w="12700">
            <a:solidFill>
              <a:srgbClr val="D7263D"/>
            </a:solidFill>
            <a:prstDash val="solid"/>
          </a:ln>
        </p:spPr>
      </p:sp>
      <p:sp>
        <p:nvSpPr>
          <p:cNvPr id="6" name="Text 4"/>
          <p:cNvSpPr txBox="1"/>
          <p:nvPr/>
        </p:nvSpPr>
        <p:spPr>
          <a:xfrm>
            <a:off x="841248" y="21671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408176" y="1965960"/>
            <a:ext cx="2377440" cy="310896"/>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Subject identity</a:t>
            </a:r>
            <a:endParaRPr lang="en-US" sz="1500" dirty="0"/>
          </a:p>
        </p:txBody>
      </p:sp>
      <p:sp>
        <p:nvSpPr>
          <p:cNvPr id="8" name="Text 6"/>
          <p:cNvSpPr txBox="1"/>
          <p:nvPr/>
        </p:nvSpPr>
        <p:spPr>
          <a:xfrm>
            <a:off x="3858768" y="1947672"/>
            <a:ext cx="7315200" cy="868680"/>
          </a:xfrm>
          <a:prstGeom prst="rect">
            <a:avLst/>
          </a:prstGeom>
          <a:noFill/>
          <a:ln/>
        </p:spPr>
        <p:txBody>
          <a:bodyPr wrap="square" lIns="0" tIns="0" rIns="0" bIns="0" rtlCol="0" anchor="ctr"/>
          <a:lstStyle/>
          <a:p>
            <a:pPr indent="0" marL="0">
              <a:buNone/>
            </a:pPr>
            <a:r>
              <a:rPr lang="en-US" sz="1250" dirty="0">
                <a:solidFill>
                  <a:srgbClr val="5B6572"/>
                </a:solidFill>
                <a:latin typeface="Calibri" pitchFamily="34" charset="0"/>
                <a:ea typeface="Calibri" pitchFamily="34" charset="-122"/>
                <a:cs typeface="Calibri" pitchFamily="34" charset="-120"/>
              </a:rPr>
              <a:t>The subject number restarts for each camera and repeats across cameras — 29 distinct values for 50 people. Splitting on it would have put the same person in training and test.</a:t>
            </a:r>
            <a:endParaRPr lang="en-US" sz="1250" dirty="0"/>
          </a:p>
        </p:txBody>
      </p:sp>
      <p:sp>
        <p:nvSpPr>
          <p:cNvPr id="9" name="Shape 7"/>
          <p:cNvSpPr/>
          <p:nvPr/>
        </p:nvSpPr>
        <p:spPr>
          <a:xfrm>
            <a:off x="566928" y="3081528"/>
            <a:ext cx="10881360" cy="1152144"/>
          </a:xfrm>
          <a:prstGeom prst="roundRect">
            <a:avLst>
              <a:gd name="adj" fmla="val 6349"/>
            </a:avLst>
          </a:prstGeom>
          <a:solidFill>
            <a:srgbClr val="F2F5FA"/>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10" name="Shape 8"/>
          <p:cNvSpPr/>
          <p:nvPr/>
        </p:nvSpPr>
        <p:spPr>
          <a:xfrm>
            <a:off x="841248" y="3465576"/>
            <a:ext cx="384048" cy="384048"/>
          </a:xfrm>
          <a:prstGeom prst="ellipse">
            <a:avLst/>
          </a:prstGeom>
          <a:solidFill>
            <a:srgbClr val="D7263D"/>
          </a:solidFill>
          <a:ln w="12700">
            <a:solidFill>
              <a:srgbClr val="D7263D"/>
            </a:solidFill>
            <a:prstDash val="solid"/>
          </a:ln>
        </p:spPr>
      </p:sp>
      <p:sp>
        <p:nvSpPr>
          <p:cNvPr id="11" name="Text 9"/>
          <p:cNvSpPr txBox="1"/>
          <p:nvPr/>
        </p:nvSpPr>
        <p:spPr>
          <a:xfrm>
            <a:off x="841248" y="346557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1408176" y="3264408"/>
            <a:ext cx="2377440" cy="310896"/>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Frame counts</a:t>
            </a:r>
            <a:endParaRPr lang="en-US" sz="1500" dirty="0"/>
          </a:p>
        </p:txBody>
      </p:sp>
      <p:sp>
        <p:nvSpPr>
          <p:cNvPr id="13" name="Text 11"/>
          <p:cNvSpPr txBox="1"/>
          <p:nvPr/>
        </p:nvSpPr>
        <p:spPr>
          <a:xfrm>
            <a:off x="3858768" y="3246120"/>
            <a:ext cx="7315200" cy="868680"/>
          </a:xfrm>
          <a:prstGeom prst="rect">
            <a:avLst/>
          </a:prstGeom>
          <a:noFill/>
          <a:ln/>
        </p:spPr>
        <p:txBody>
          <a:bodyPr wrap="square" lIns="0" tIns="0" rIns="0" bIns="0" rtlCol="0" anchor="ctr"/>
          <a:lstStyle/>
          <a:p>
            <a:pPr indent="0" marL="0">
              <a:buNone/>
            </a:pPr>
            <a:r>
              <a:rPr lang="en-US" sz="1250" dirty="0">
                <a:solidFill>
                  <a:srgbClr val="5B6572"/>
                </a:solidFill>
                <a:latin typeface="Calibri" pitchFamily="34" charset="0"/>
                <a:ea typeface="Calibri" pitchFamily="34" charset="-122"/>
                <a:cs typeface="Calibri" pitchFamily="34" charset="-120"/>
              </a:rPr>
              <a:t>The dataset’s own metadata overcounts by one frame for exactly 14 videos — those whose folder contains a stray desktop.ini. It was produced by counting directory entries, not images.</a:t>
            </a:r>
            <a:endParaRPr lang="en-US" sz="1250" dirty="0"/>
          </a:p>
        </p:txBody>
      </p:sp>
      <p:sp>
        <p:nvSpPr>
          <p:cNvPr id="14" name="Shape 12"/>
          <p:cNvSpPr/>
          <p:nvPr/>
        </p:nvSpPr>
        <p:spPr>
          <a:xfrm>
            <a:off x="566928" y="4379976"/>
            <a:ext cx="10881360" cy="1152144"/>
          </a:xfrm>
          <a:prstGeom prst="roundRect">
            <a:avLst>
              <a:gd name="adj" fmla="val 6349"/>
            </a:avLst>
          </a:prstGeom>
          <a:solidFill>
            <a:srgbClr val="F2F5FA"/>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15" name="Shape 13"/>
          <p:cNvSpPr/>
          <p:nvPr/>
        </p:nvSpPr>
        <p:spPr>
          <a:xfrm>
            <a:off x="841248" y="4764024"/>
            <a:ext cx="384048" cy="384048"/>
          </a:xfrm>
          <a:prstGeom prst="ellipse">
            <a:avLst/>
          </a:prstGeom>
          <a:solidFill>
            <a:srgbClr val="D7263D"/>
          </a:solidFill>
          <a:ln w="12700">
            <a:solidFill>
              <a:srgbClr val="D7263D"/>
            </a:solidFill>
            <a:prstDash val="solid"/>
          </a:ln>
        </p:spPr>
      </p:sp>
      <p:sp>
        <p:nvSpPr>
          <p:cNvPr id="16" name="Text 14"/>
          <p:cNvSpPr txBox="1"/>
          <p:nvPr/>
        </p:nvSpPr>
        <p:spPr>
          <a:xfrm>
            <a:off x="841248" y="476402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408176" y="4562856"/>
            <a:ext cx="2377440" cy="310896"/>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Class mapping</a:t>
            </a:r>
            <a:endParaRPr lang="en-US" sz="1500" dirty="0"/>
          </a:p>
        </p:txBody>
      </p:sp>
      <p:sp>
        <p:nvSpPr>
          <p:cNvPr id="18" name="Text 16"/>
          <p:cNvSpPr txBox="1"/>
          <p:nvPr/>
        </p:nvSpPr>
        <p:spPr>
          <a:xfrm>
            <a:off x="3858768" y="4544568"/>
            <a:ext cx="7315200" cy="868680"/>
          </a:xfrm>
          <a:prstGeom prst="rect">
            <a:avLst/>
          </a:prstGeom>
          <a:noFill/>
          <a:ln/>
        </p:spPr>
        <p:txBody>
          <a:bodyPr wrap="square" lIns="0" tIns="0" rIns="0" bIns="0" rtlCol="0" anchor="ctr"/>
          <a:lstStyle/>
          <a:p>
            <a:pPr indent="0" marL="0">
              <a:buNone/>
            </a:pPr>
            <a:r>
              <a:rPr lang="en-US" sz="1250" dirty="0">
                <a:solidFill>
                  <a:srgbClr val="5B6572"/>
                </a:solidFill>
                <a:latin typeface="Calibri" pitchFamily="34" charset="0"/>
                <a:ea typeface="Calibri" pitchFamily="34" charset="-122"/>
                <a:cs typeface="Calibri" pitchFamily="34" charset="-120"/>
              </a:rPr>
              <a:t>The dataset ships codes without saying which gesture each denotes. All 91 pairwise label swaps were simulated: 90 would be detected. The last was resolved by inspecting video frames.</a:t>
            </a:r>
            <a:endParaRPr lang="en-US" sz="1250" dirty="0"/>
          </a:p>
        </p:txBody>
      </p:sp>
      <p:sp>
        <p:nvSpPr>
          <p:cNvPr id="19" name="Text 17"/>
          <p:cNvSpPr txBox="1"/>
          <p:nvPr/>
        </p:nvSpPr>
        <p:spPr>
          <a:xfrm>
            <a:off x="566928" y="5760720"/>
            <a:ext cx="10881360" cy="365760"/>
          </a:xfrm>
          <a:prstGeom prst="rect">
            <a:avLst/>
          </a:prstGeom>
          <a:noFill/>
          <a:ln/>
        </p:spPr>
        <p:txBody>
          <a:bodyPr wrap="square" lIns="0" tIns="0" rIns="0" bIns="0" rtlCol="0" anchor="ctr"/>
          <a:lstStyle/>
          <a:p>
            <a:pPr indent="0" marL="0">
              <a:buNone/>
            </a:pPr>
            <a:r>
              <a:rPr lang="en-US" sz="1600" b="1" dirty="0">
                <a:solidFill>
                  <a:srgbClr val="D7263D"/>
                </a:solidFill>
                <a:latin typeface="Cambria" pitchFamily="34" charset="0"/>
                <a:ea typeface="Cambria" pitchFamily="34" charset="-122"/>
                <a:cs typeface="Cambria" pitchFamily="34" charset="-120"/>
              </a:rPr>
              <a:t>Each would have produced a confident, wrong number rather than an error message.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00" b="1" spc="200" kern="0" dirty="0">
                <a:solidFill>
                  <a:srgbClr val="D7263D"/>
                </a:solidFill>
                <a:latin typeface="Calibri" pitchFamily="34" charset="0"/>
                <a:ea typeface="Calibri" pitchFamily="34" charset="-122"/>
                <a:cs typeface="Calibri" pitchFamily="34" charset="-120"/>
              </a:rPr>
              <a:t>VERIFICATION</a:t>
            </a:r>
            <a:endParaRPr lang="en-US" sz="1100" dirty="0"/>
          </a:p>
        </p:txBody>
      </p:sp>
      <p:sp>
        <p:nvSpPr>
          <p:cNvPr id="3" name="Text 1"/>
          <p:cNvSpPr txBox="1"/>
          <p:nvPr/>
        </p:nvSpPr>
        <p:spPr>
          <a:xfrm>
            <a:off x="566928" y="640080"/>
            <a:ext cx="11055096" cy="89611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How correctness is established</a:t>
            </a:r>
            <a:endParaRPr lang="en-US" sz="3200" dirty="0"/>
          </a:p>
        </p:txBody>
      </p:sp>
      <p:sp>
        <p:nvSpPr>
          <p:cNvPr id="4" name="Shape 2"/>
          <p:cNvSpPr/>
          <p:nvPr/>
        </p:nvSpPr>
        <p:spPr>
          <a:xfrm>
            <a:off x="566928" y="1783080"/>
            <a:ext cx="2103120" cy="1234440"/>
          </a:xfrm>
          <a:prstGeom prst="roundRect">
            <a:avLst>
              <a:gd name="adj" fmla="val 5926"/>
            </a:avLst>
          </a:prstGeom>
          <a:solidFill>
            <a:srgbClr val="F2F5FA"/>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5" name="Text 3"/>
          <p:cNvSpPr txBox="1"/>
          <p:nvPr/>
        </p:nvSpPr>
        <p:spPr>
          <a:xfrm>
            <a:off x="749808" y="1883664"/>
            <a:ext cx="1737360" cy="658368"/>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211</a:t>
            </a:r>
            <a:endParaRPr lang="en-US" sz="3600" dirty="0"/>
          </a:p>
        </p:txBody>
      </p:sp>
      <p:sp>
        <p:nvSpPr>
          <p:cNvPr id="6" name="Text 4"/>
          <p:cNvSpPr txBox="1"/>
          <p:nvPr/>
        </p:nvSpPr>
        <p:spPr>
          <a:xfrm>
            <a:off x="749808" y="2560320"/>
            <a:ext cx="1737360" cy="274320"/>
          </a:xfrm>
          <a:prstGeom prst="rect">
            <a:avLst/>
          </a:prstGeom>
          <a:noFill/>
          <a:ln/>
        </p:spPr>
        <p:txBody>
          <a:bodyPr wrap="square" lIns="0" tIns="0" rIns="0" bIns="0" rtlCol="0" anchor="ctr"/>
          <a:lstStyle/>
          <a:p>
            <a:pPr algn="ctr" indent="0" marL="0">
              <a:buNone/>
            </a:pPr>
            <a:r>
              <a:rPr lang="en-US" sz="1150" dirty="0">
                <a:solidFill>
                  <a:srgbClr val="5B6572"/>
                </a:solidFill>
                <a:latin typeface="Calibri" pitchFamily="34" charset="0"/>
                <a:ea typeface="Calibri" pitchFamily="34" charset="-122"/>
                <a:cs typeface="Calibri" pitchFamily="34" charset="-120"/>
              </a:rPr>
              <a:t>automated tests</a:t>
            </a:r>
            <a:endParaRPr lang="en-US" sz="1150" dirty="0"/>
          </a:p>
        </p:txBody>
      </p:sp>
      <p:sp>
        <p:nvSpPr>
          <p:cNvPr id="7" name="Shape 5"/>
          <p:cNvSpPr/>
          <p:nvPr/>
        </p:nvSpPr>
        <p:spPr>
          <a:xfrm>
            <a:off x="2944368" y="1783080"/>
            <a:ext cx="2103120" cy="1234440"/>
          </a:xfrm>
          <a:prstGeom prst="roundRect">
            <a:avLst>
              <a:gd name="adj" fmla="val 5926"/>
            </a:avLst>
          </a:prstGeom>
          <a:solidFill>
            <a:srgbClr val="F2F5FA"/>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8" name="Text 6"/>
          <p:cNvSpPr txBox="1"/>
          <p:nvPr/>
        </p:nvSpPr>
        <p:spPr>
          <a:xfrm>
            <a:off x="3127248" y="1883664"/>
            <a:ext cx="1737360" cy="658368"/>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41</a:t>
            </a:r>
            <a:endParaRPr lang="en-US" sz="3600" dirty="0"/>
          </a:p>
        </p:txBody>
      </p:sp>
      <p:sp>
        <p:nvSpPr>
          <p:cNvPr id="9" name="Text 7"/>
          <p:cNvSpPr txBox="1"/>
          <p:nvPr/>
        </p:nvSpPr>
        <p:spPr>
          <a:xfrm>
            <a:off x="3127248" y="2560320"/>
            <a:ext cx="1737360" cy="274320"/>
          </a:xfrm>
          <a:prstGeom prst="rect">
            <a:avLst/>
          </a:prstGeom>
          <a:noFill/>
          <a:ln/>
        </p:spPr>
        <p:txBody>
          <a:bodyPr wrap="square" lIns="0" tIns="0" rIns="0" bIns="0" rtlCol="0" anchor="ctr"/>
          <a:lstStyle/>
          <a:p>
            <a:pPr algn="ctr" indent="0" marL="0">
              <a:buNone/>
            </a:pPr>
            <a:r>
              <a:rPr lang="en-US" sz="1150" dirty="0">
                <a:solidFill>
                  <a:srgbClr val="5B6572"/>
                </a:solidFill>
                <a:latin typeface="Calibri" pitchFamily="34" charset="0"/>
                <a:ea typeface="Calibri" pitchFamily="34" charset="-122"/>
                <a:cs typeface="Calibri" pitchFamily="34" charset="-120"/>
              </a:rPr>
              <a:t>causality tests</a:t>
            </a:r>
            <a:endParaRPr lang="en-US" sz="1150" dirty="0"/>
          </a:p>
        </p:txBody>
      </p:sp>
      <p:sp>
        <p:nvSpPr>
          <p:cNvPr id="10" name="Shape 8"/>
          <p:cNvSpPr/>
          <p:nvPr/>
        </p:nvSpPr>
        <p:spPr>
          <a:xfrm>
            <a:off x="5321808" y="1783080"/>
            <a:ext cx="2103120" cy="1234440"/>
          </a:xfrm>
          <a:prstGeom prst="roundRect">
            <a:avLst>
              <a:gd name="adj" fmla="val 5926"/>
            </a:avLst>
          </a:prstGeom>
          <a:solidFill>
            <a:srgbClr val="F2F5FA"/>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11" name="Text 9"/>
          <p:cNvSpPr txBox="1"/>
          <p:nvPr/>
        </p:nvSpPr>
        <p:spPr>
          <a:xfrm>
            <a:off x="5504688" y="1883664"/>
            <a:ext cx="1737360" cy="658368"/>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36</a:t>
            </a:r>
            <a:endParaRPr lang="en-US" sz="3600" dirty="0"/>
          </a:p>
        </p:txBody>
      </p:sp>
      <p:sp>
        <p:nvSpPr>
          <p:cNvPr id="12" name="Text 10"/>
          <p:cNvSpPr txBox="1"/>
          <p:nvPr/>
        </p:nvSpPr>
        <p:spPr>
          <a:xfrm>
            <a:off x="5504688" y="2560320"/>
            <a:ext cx="1737360" cy="274320"/>
          </a:xfrm>
          <a:prstGeom prst="rect">
            <a:avLst/>
          </a:prstGeom>
          <a:noFill/>
          <a:ln/>
        </p:spPr>
        <p:txBody>
          <a:bodyPr wrap="square" lIns="0" tIns="0" rIns="0" bIns="0" rtlCol="0" anchor="ctr"/>
          <a:lstStyle/>
          <a:p>
            <a:pPr algn="ctr" indent="0" marL="0">
              <a:buNone/>
            </a:pPr>
            <a:r>
              <a:rPr lang="en-US" sz="1150" dirty="0">
                <a:solidFill>
                  <a:srgbClr val="5B6572"/>
                </a:solidFill>
                <a:latin typeface="Calibri" pitchFamily="34" charset="0"/>
                <a:ea typeface="Calibri" pitchFamily="34" charset="-122"/>
                <a:cs typeface="Calibri" pitchFamily="34" charset="-120"/>
              </a:rPr>
              <a:t>split tests</a:t>
            </a:r>
            <a:endParaRPr lang="en-US" sz="1150" dirty="0"/>
          </a:p>
        </p:txBody>
      </p:sp>
      <p:sp>
        <p:nvSpPr>
          <p:cNvPr id="13" name="Shape 11"/>
          <p:cNvSpPr/>
          <p:nvPr/>
        </p:nvSpPr>
        <p:spPr>
          <a:xfrm>
            <a:off x="7772400" y="1783080"/>
            <a:ext cx="3840480" cy="1234440"/>
          </a:xfrm>
          <a:prstGeom prst="roundRect">
            <a:avLst>
              <a:gd name="adj" fmla="val 5926"/>
            </a:avLst>
          </a:prstGeom>
          <a:solidFill>
            <a:srgbClr val="1E2761"/>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14" name="Text 12"/>
          <p:cNvSpPr txBox="1"/>
          <p:nvPr/>
        </p:nvSpPr>
        <p:spPr>
          <a:xfrm>
            <a:off x="8028432" y="2011680"/>
            <a:ext cx="3383280" cy="8229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Every run records its config, seed, code revision and metrics.</a:t>
            </a:r>
            <a:endParaRPr lang="en-US" sz="1300" dirty="0"/>
          </a:p>
        </p:txBody>
      </p:sp>
      <p:sp>
        <p:nvSpPr>
          <p:cNvPr id="15" name="Text 13"/>
          <p:cNvSpPr txBox="1"/>
          <p:nvPr/>
        </p:nvSpPr>
        <p:spPr>
          <a:xfrm>
            <a:off x="566928" y="3246120"/>
            <a:ext cx="10881360" cy="329184"/>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The causality suite proves it can detect a violation</a:t>
            </a:r>
            <a:endParaRPr lang="en-US" sz="1600" dirty="0"/>
          </a:p>
        </p:txBody>
      </p:sp>
      <p:sp>
        <p:nvSpPr>
          <p:cNvPr id="16" name="Text 14"/>
          <p:cNvSpPr txBox="1"/>
          <p:nvPr/>
        </p:nvSpPr>
        <p:spPr>
          <a:xfrm>
            <a:off x="566928" y="3611880"/>
            <a:ext cx="10881360" cy="310896"/>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Three deliberately non-causal implementations are built alongside the real one, and the test harness is required to reject each:</a:t>
            </a:r>
            <a:endParaRPr lang="en-US" sz="1300" dirty="0"/>
          </a:p>
        </p:txBody>
      </p:sp>
      <p:sp>
        <p:nvSpPr>
          <p:cNvPr id="17" name="Shape 15"/>
          <p:cNvSpPr/>
          <p:nvPr/>
        </p:nvSpPr>
        <p:spPr>
          <a:xfrm>
            <a:off x="566928" y="4023360"/>
            <a:ext cx="3429000" cy="1097280"/>
          </a:xfrm>
          <a:prstGeom prst="roundRect">
            <a:avLst>
              <a:gd name="adj" fmla="val 6667"/>
            </a:avLst>
          </a:prstGeom>
          <a:solidFill>
            <a:srgbClr val="FDEEF0"/>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18" name="Text 16"/>
          <p:cNvSpPr txBox="1"/>
          <p:nvPr/>
        </p:nvSpPr>
        <p:spPr>
          <a:xfrm>
            <a:off x="822960" y="4187952"/>
            <a:ext cx="2926080" cy="274320"/>
          </a:xfrm>
          <a:prstGeom prst="rect">
            <a:avLst/>
          </a:prstGeom>
          <a:noFill/>
          <a:ln/>
        </p:spPr>
        <p:txBody>
          <a:bodyPr wrap="square" lIns="0" tIns="0" rIns="0" bIns="0" rtlCol="0" anchor="ctr"/>
          <a:lstStyle/>
          <a:p>
            <a:pPr indent="0" marL="0">
              <a:buNone/>
            </a:pPr>
            <a:r>
              <a:rPr lang="en-US" sz="1350" b="1" dirty="0">
                <a:solidFill>
                  <a:srgbClr val="D7263D"/>
                </a:solidFill>
                <a:latin typeface="Calibri" pitchFamily="34" charset="0"/>
                <a:ea typeface="Calibri" pitchFamily="34" charset="-122"/>
                <a:cs typeface="Calibri" pitchFamily="34" charset="-120"/>
              </a:rPr>
              <a:t>Centred clip</a:t>
            </a:r>
            <a:endParaRPr lang="en-US" sz="1350" dirty="0"/>
          </a:p>
        </p:txBody>
      </p:sp>
      <p:sp>
        <p:nvSpPr>
          <p:cNvPr id="19" name="Text 17"/>
          <p:cNvSpPr txBox="1"/>
          <p:nvPr/>
        </p:nvSpPr>
        <p:spPr>
          <a:xfrm>
            <a:off x="822960" y="4480560"/>
            <a:ext cx="2926080" cy="548640"/>
          </a:xfrm>
          <a:prstGeom prst="rect">
            <a:avLst/>
          </a:prstGeom>
          <a:noFill/>
          <a:ln/>
        </p:spPr>
        <p:txBody>
          <a:bodyPr wrap="square" lIns="0" tIns="0" rIns="0" bIns="0" rtlCol="0" anchor="ctr"/>
          <a:lstStyle/>
          <a:p>
            <a:pPr indent="0" marL="0">
              <a:buNone/>
            </a:pPr>
            <a:r>
              <a:rPr lang="en-US" sz="1150" dirty="0">
                <a:solidFill>
                  <a:srgbClr val="5B6572"/>
                </a:solidFill>
                <a:latin typeface="Calibri" pitchFamily="34" charset="0"/>
                <a:ea typeface="Calibri" pitchFamily="34" charset="-122"/>
                <a:cs typeface="Calibri" pitchFamily="34" charset="-120"/>
              </a:rPr>
              <a:t>Uses frames either side of the one it describes</a:t>
            </a:r>
            <a:endParaRPr lang="en-US" sz="1150" dirty="0"/>
          </a:p>
        </p:txBody>
      </p:sp>
      <p:sp>
        <p:nvSpPr>
          <p:cNvPr id="20" name="Shape 18"/>
          <p:cNvSpPr/>
          <p:nvPr/>
        </p:nvSpPr>
        <p:spPr>
          <a:xfrm>
            <a:off x="4297680" y="4023360"/>
            <a:ext cx="3429000" cy="1097280"/>
          </a:xfrm>
          <a:prstGeom prst="roundRect">
            <a:avLst>
              <a:gd name="adj" fmla="val 6667"/>
            </a:avLst>
          </a:prstGeom>
          <a:solidFill>
            <a:srgbClr val="FDEEF0"/>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21" name="Text 19"/>
          <p:cNvSpPr txBox="1"/>
          <p:nvPr/>
        </p:nvSpPr>
        <p:spPr>
          <a:xfrm>
            <a:off x="4553712" y="4187952"/>
            <a:ext cx="2926080" cy="274320"/>
          </a:xfrm>
          <a:prstGeom prst="rect">
            <a:avLst/>
          </a:prstGeom>
          <a:noFill/>
          <a:ln/>
        </p:spPr>
        <p:txBody>
          <a:bodyPr wrap="square" lIns="0" tIns="0" rIns="0" bIns="0" rtlCol="0" anchor="ctr"/>
          <a:lstStyle/>
          <a:p>
            <a:pPr indent="0" marL="0">
              <a:buNone/>
            </a:pPr>
            <a:r>
              <a:rPr lang="en-US" sz="1350" b="1" dirty="0">
                <a:solidFill>
                  <a:srgbClr val="D7263D"/>
                </a:solidFill>
                <a:latin typeface="Calibri" pitchFamily="34" charset="0"/>
                <a:ea typeface="Calibri" pitchFamily="34" charset="-122"/>
                <a:cs typeface="Calibri" pitchFamily="34" charset="-120"/>
              </a:rPr>
              <a:t>End-anchored grid</a:t>
            </a:r>
            <a:endParaRPr lang="en-US" sz="1350" dirty="0"/>
          </a:p>
        </p:txBody>
      </p:sp>
      <p:sp>
        <p:nvSpPr>
          <p:cNvPr id="22" name="Text 20"/>
          <p:cNvSpPr txBox="1"/>
          <p:nvPr/>
        </p:nvSpPr>
        <p:spPr>
          <a:xfrm>
            <a:off x="4553712" y="4480560"/>
            <a:ext cx="2926080" cy="548640"/>
          </a:xfrm>
          <a:prstGeom prst="rect">
            <a:avLst/>
          </a:prstGeom>
          <a:noFill/>
          <a:ln/>
        </p:spPr>
        <p:txBody>
          <a:bodyPr wrap="square" lIns="0" tIns="0" rIns="0" bIns="0" rtlCol="0" anchor="ctr"/>
          <a:lstStyle/>
          <a:p>
            <a:pPr indent="0" marL="0">
              <a:buNone/>
            </a:pPr>
            <a:r>
              <a:rPr lang="en-US" sz="1150" dirty="0">
                <a:solidFill>
                  <a:srgbClr val="5B6572"/>
                </a:solidFill>
                <a:latin typeface="Calibri" pitchFamily="34" charset="0"/>
                <a:ea typeface="Calibri" pitchFamily="34" charset="-122"/>
                <a:cs typeface="Calibri" pitchFamily="34" charset="-120"/>
              </a:rPr>
              <a:t>Results shift depending on how long the video turns out to be</a:t>
            </a:r>
            <a:endParaRPr lang="en-US" sz="1150" dirty="0"/>
          </a:p>
        </p:txBody>
      </p:sp>
      <p:sp>
        <p:nvSpPr>
          <p:cNvPr id="23" name="Shape 21"/>
          <p:cNvSpPr/>
          <p:nvPr/>
        </p:nvSpPr>
        <p:spPr>
          <a:xfrm>
            <a:off x="8028432" y="4023360"/>
            <a:ext cx="3429000" cy="1097280"/>
          </a:xfrm>
          <a:prstGeom prst="roundRect">
            <a:avLst>
              <a:gd name="adj" fmla="val 6667"/>
            </a:avLst>
          </a:prstGeom>
          <a:solidFill>
            <a:srgbClr val="FDEEF0"/>
          </a:solidFill>
          <a:ln w="9525">
            <a:solidFill>
              <a:srgbClr val="E2E8F2"/>
            </a:solidFill>
            <a:prstDash val="solid"/>
          </a:ln>
          <a:effectLst>
            <a:outerShdw sx="100000" sy="100000" kx="0" ky="0" algn="bl" rotWithShape="0" blurRad="127000" dist="25400" dir="5400000">
              <a:srgbClr val="9AA5B5">
                <a:alpha val="30000"/>
              </a:srgbClr>
            </a:outerShdw>
          </a:effectLst>
        </p:spPr>
      </p:sp>
      <p:sp>
        <p:nvSpPr>
          <p:cNvPr id="24" name="Text 22"/>
          <p:cNvSpPr txBox="1"/>
          <p:nvPr/>
        </p:nvSpPr>
        <p:spPr>
          <a:xfrm>
            <a:off x="8284464" y="4187952"/>
            <a:ext cx="2926080" cy="274320"/>
          </a:xfrm>
          <a:prstGeom prst="rect">
            <a:avLst/>
          </a:prstGeom>
          <a:noFill/>
          <a:ln/>
        </p:spPr>
        <p:txBody>
          <a:bodyPr wrap="square" lIns="0" tIns="0" rIns="0" bIns="0" rtlCol="0" anchor="ctr"/>
          <a:lstStyle/>
          <a:p>
            <a:pPr indent="0" marL="0">
              <a:buNone/>
            </a:pPr>
            <a:r>
              <a:rPr lang="en-US" sz="1350" b="1" dirty="0">
                <a:solidFill>
                  <a:srgbClr val="D7263D"/>
                </a:solidFill>
                <a:latin typeface="Calibri" pitchFamily="34" charset="0"/>
                <a:ea typeface="Calibri" pitchFamily="34" charset="-122"/>
                <a:cs typeface="Calibri" pitchFamily="34" charset="-120"/>
              </a:rPr>
              <a:t>Forward interpolation</a:t>
            </a:r>
            <a:endParaRPr lang="en-US" sz="1350" dirty="0"/>
          </a:p>
        </p:txBody>
      </p:sp>
      <p:sp>
        <p:nvSpPr>
          <p:cNvPr id="25" name="Text 23"/>
          <p:cNvSpPr txBox="1"/>
          <p:nvPr/>
        </p:nvSpPr>
        <p:spPr>
          <a:xfrm>
            <a:off x="8284464" y="4480560"/>
            <a:ext cx="2926080" cy="548640"/>
          </a:xfrm>
          <a:prstGeom prst="rect">
            <a:avLst/>
          </a:prstGeom>
          <a:noFill/>
          <a:ln/>
        </p:spPr>
        <p:txBody>
          <a:bodyPr wrap="square" lIns="0" tIns="0" rIns="0" bIns="0" rtlCol="0" anchor="ctr"/>
          <a:lstStyle/>
          <a:p>
            <a:pPr indent="0" marL="0">
              <a:buNone/>
            </a:pPr>
            <a:r>
              <a:rPr lang="en-US" sz="1150" dirty="0">
                <a:solidFill>
                  <a:srgbClr val="5B6572"/>
                </a:solidFill>
                <a:latin typeface="Calibri" pitchFamily="34" charset="0"/>
                <a:ea typeface="Calibri" pitchFamily="34" charset="-122"/>
                <a:cs typeface="Calibri" pitchFamily="34" charset="-120"/>
              </a:rPr>
              <a:t>Blends in a value computed from frames not yet arrived</a:t>
            </a:r>
            <a:endParaRPr lang="en-US" sz="1150" dirty="0"/>
          </a:p>
        </p:txBody>
      </p:sp>
      <p:sp>
        <p:nvSpPr>
          <p:cNvPr id="26" name="Text 24"/>
          <p:cNvSpPr txBox="1"/>
          <p:nvPr/>
        </p:nvSpPr>
        <p:spPr>
          <a:xfrm>
            <a:off x="566928" y="5285232"/>
            <a:ext cx="10881360" cy="457200"/>
          </a:xfrm>
          <a:prstGeom prst="rect">
            <a:avLst/>
          </a:prstGeom>
          <a:noFill/>
          <a:ln/>
        </p:spPr>
        <p:txBody>
          <a:bodyPr wrap="square" lIns="0" tIns="0" rIns="0" bIns="0" rtlCol="0" anchor="ctr"/>
          <a:lstStyle/>
          <a:p>
            <a:pPr indent="0" marL="0">
              <a:buNone/>
            </a:pPr>
            <a:r>
              <a:rPr lang="en-US" sz="1300" i="1" dirty="0">
                <a:solidFill>
                  <a:srgbClr val="1A1A1A"/>
                </a:solidFill>
                <a:latin typeface="Calibri" pitchFamily="34" charset="0"/>
                <a:ea typeface="Calibri" pitchFamily="34" charset="-122"/>
                <a:cs typeface="Calibri" pitchFamily="34" charset="-120"/>
              </a:rPr>
              <a:t>All three produce output of the correct shape, type and range. A test suite that has only ever been run against correct code establishes nothing.</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1A3C"/>
        </a:solidFill>
      </p:bgPr>
    </p:bg>
    <p:spTree>
      <p:nvGrpSpPr>
        <p:cNvPr id="1" name=""/>
        <p:cNvGrpSpPr/>
        <p:nvPr/>
      </p:nvGrpSpPr>
      <p:grpSpPr>
        <a:xfrm>
          <a:off x="0" y="0"/>
          <a:ext cx="0" cy="0"/>
          <a:chOff x="0" y="0"/>
          <a:chExt cx="0" cy="0"/>
        </a:xfrm>
      </p:grpSpPr>
      <p:sp>
        <p:nvSpPr>
          <p:cNvPr id="2" name="Text 0"/>
          <p:cNvSpPr txBox="1"/>
          <p:nvPr/>
        </p:nvSpPr>
        <p:spPr>
          <a:xfrm>
            <a:off x="566928" y="566928"/>
            <a:ext cx="1088136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Next steps</a:t>
            </a:r>
            <a:endParaRPr lang="en-US" sz="3200" dirty="0"/>
          </a:p>
        </p:txBody>
      </p:sp>
      <p:sp>
        <p:nvSpPr>
          <p:cNvPr id="3" name="Shape 1"/>
          <p:cNvSpPr/>
          <p:nvPr/>
        </p:nvSpPr>
        <p:spPr>
          <a:xfrm>
            <a:off x="566928" y="1572768"/>
            <a:ext cx="6766560" cy="841248"/>
          </a:xfrm>
          <a:prstGeom prst="roundRect">
            <a:avLst>
              <a:gd name="adj" fmla="val 8696"/>
            </a:avLst>
          </a:prstGeom>
          <a:solidFill>
            <a:srgbClr val="1C2550"/>
          </a:solidFill>
          <a:ln w="9525">
            <a:solidFill>
              <a:srgbClr val="2E3C72"/>
            </a:solidFill>
            <a:prstDash val="solid"/>
          </a:ln>
        </p:spPr>
      </p:sp>
      <p:sp>
        <p:nvSpPr>
          <p:cNvPr id="4" name="Text 2"/>
          <p:cNvSpPr txBox="1"/>
          <p:nvPr/>
        </p:nvSpPr>
        <p:spPr>
          <a:xfrm>
            <a:off x="841248" y="1691640"/>
            <a:ext cx="6217920" cy="256032"/>
          </a:xfrm>
          <a:prstGeom prst="rect">
            <a:avLst/>
          </a:prstGeom>
          <a:noFill/>
          <a:ln/>
        </p:spPr>
        <p:txBody>
          <a:bodyPr wrap="square" lIns="0" tIns="0" rIns="0" bIns="0" rtlCol="0" anchor="ctr"/>
          <a:lstStyle/>
          <a:p>
            <a:pPr indent="0" marL="0">
              <a:buNone/>
            </a:pPr>
            <a:r>
              <a:rPr lang="en-US" sz="1100" b="1" spc="100" kern="0" dirty="0">
                <a:solidFill>
                  <a:srgbClr val="D7263D"/>
                </a:solidFill>
                <a:latin typeface="Calibri" pitchFamily="34" charset="0"/>
                <a:ea typeface="Calibri" pitchFamily="34" charset="-122"/>
                <a:cs typeface="Calibri" pitchFamily="34" charset="-120"/>
              </a:rPr>
              <a:t>Immediate</a:t>
            </a:r>
            <a:endParaRPr lang="en-US" sz="1100" dirty="0"/>
          </a:p>
        </p:txBody>
      </p:sp>
      <p:sp>
        <p:nvSpPr>
          <p:cNvPr id="5" name="Text 3"/>
          <p:cNvSpPr txBox="1"/>
          <p:nvPr/>
        </p:nvSpPr>
        <p:spPr>
          <a:xfrm>
            <a:off x="841248" y="1956816"/>
            <a:ext cx="621792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Complete feature extraction on cloud GPU; begin baselines and the evaluation harness.</a:t>
            </a:r>
            <a:endParaRPr lang="en-US" sz="1300" dirty="0"/>
          </a:p>
        </p:txBody>
      </p:sp>
      <p:sp>
        <p:nvSpPr>
          <p:cNvPr id="6" name="Shape 4"/>
          <p:cNvSpPr/>
          <p:nvPr/>
        </p:nvSpPr>
        <p:spPr>
          <a:xfrm>
            <a:off x="566928" y="2560320"/>
            <a:ext cx="6766560" cy="841248"/>
          </a:xfrm>
          <a:prstGeom prst="roundRect">
            <a:avLst>
              <a:gd name="adj" fmla="val 8696"/>
            </a:avLst>
          </a:prstGeom>
          <a:solidFill>
            <a:srgbClr val="1C2550"/>
          </a:solidFill>
          <a:ln w="9525">
            <a:solidFill>
              <a:srgbClr val="2E3C72"/>
            </a:solidFill>
            <a:prstDash val="solid"/>
          </a:ln>
        </p:spPr>
      </p:sp>
      <p:sp>
        <p:nvSpPr>
          <p:cNvPr id="7" name="Text 5"/>
          <p:cNvSpPr txBox="1"/>
          <p:nvPr/>
        </p:nvSpPr>
        <p:spPr>
          <a:xfrm>
            <a:off x="841248" y="2679192"/>
            <a:ext cx="6217920" cy="256032"/>
          </a:xfrm>
          <a:prstGeom prst="rect">
            <a:avLst/>
          </a:prstGeom>
          <a:noFill/>
          <a:ln/>
        </p:spPr>
        <p:txBody>
          <a:bodyPr wrap="square" lIns="0" tIns="0" rIns="0" bIns="0" rtlCol="0" anchor="ctr"/>
          <a:lstStyle/>
          <a:p>
            <a:pPr indent="0" marL="0">
              <a:buNone/>
            </a:pPr>
            <a:r>
              <a:rPr lang="en-US" sz="1100" b="1" spc="100" kern="0" dirty="0">
                <a:solidFill>
                  <a:srgbClr val="D7263D"/>
                </a:solidFill>
                <a:latin typeface="Calibri" pitchFamily="34" charset="0"/>
                <a:ea typeface="Calibri" pitchFamily="34" charset="-122"/>
                <a:cs typeface="Calibri" pitchFamily="34" charset="-120"/>
              </a:rPr>
              <a:t>Then</a:t>
            </a:r>
            <a:endParaRPr lang="en-US" sz="1100" dirty="0"/>
          </a:p>
        </p:txBody>
      </p:sp>
      <p:sp>
        <p:nvSpPr>
          <p:cNvPr id="8" name="Text 6"/>
          <p:cNvSpPr txBox="1"/>
          <p:nvPr/>
        </p:nvSpPr>
        <p:spPr>
          <a:xfrm>
            <a:off x="841248" y="2944368"/>
            <a:ext cx="621792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Proposed model, online decision layer, full metric set, ablations.</a:t>
            </a:r>
            <a:endParaRPr lang="en-US" sz="1300" dirty="0"/>
          </a:p>
        </p:txBody>
      </p:sp>
      <p:sp>
        <p:nvSpPr>
          <p:cNvPr id="9" name="Shape 7"/>
          <p:cNvSpPr/>
          <p:nvPr/>
        </p:nvSpPr>
        <p:spPr>
          <a:xfrm>
            <a:off x="566928" y="3547872"/>
            <a:ext cx="6766560" cy="841248"/>
          </a:xfrm>
          <a:prstGeom prst="roundRect">
            <a:avLst>
              <a:gd name="adj" fmla="val 8696"/>
            </a:avLst>
          </a:prstGeom>
          <a:solidFill>
            <a:srgbClr val="1C2550"/>
          </a:solidFill>
          <a:ln w="9525">
            <a:solidFill>
              <a:srgbClr val="2E3C72"/>
            </a:solidFill>
            <a:prstDash val="solid"/>
          </a:ln>
        </p:spPr>
      </p:sp>
      <p:sp>
        <p:nvSpPr>
          <p:cNvPr id="10" name="Text 8"/>
          <p:cNvSpPr txBox="1"/>
          <p:nvPr/>
        </p:nvSpPr>
        <p:spPr>
          <a:xfrm>
            <a:off x="841248" y="3666744"/>
            <a:ext cx="6217920" cy="256032"/>
          </a:xfrm>
          <a:prstGeom prst="rect">
            <a:avLst/>
          </a:prstGeom>
          <a:noFill/>
          <a:ln/>
        </p:spPr>
        <p:txBody>
          <a:bodyPr wrap="square" lIns="0" tIns="0" rIns="0" bIns="0" rtlCol="0" anchor="ctr"/>
          <a:lstStyle/>
          <a:p>
            <a:pPr indent="0" marL="0">
              <a:buNone/>
            </a:pPr>
            <a:r>
              <a:rPr lang="en-US" sz="1100" b="1" spc="100" kern="0" dirty="0">
                <a:solidFill>
                  <a:srgbClr val="D7263D"/>
                </a:solidFill>
                <a:latin typeface="Calibri" pitchFamily="34" charset="0"/>
                <a:ea typeface="Calibri" pitchFamily="34" charset="-122"/>
                <a:cs typeface="Calibri" pitchFamily="34" charset="-120"/>
              </a:rPr>
              <a:t>In parallel</a:t>
            </a:r>
            <a:endParaRPr lang="en-US" sz="1100" dirty="0"/>
          </a:p>
        </p:txBody>
      </p:sp>
      <p:sp>
        <p:nvSpPr>
          <p:cNvPr id="11" name="Text 9"/>
          <p:cNvSpPr txBox="1"/>
          <p:nvPr/>
        </p:nvSpPr>
        <p:spPr>
          <a:xfrm>
            <a:off x="841248" y="3931920"/>
            <a:ext cx="621792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Begin the ethics approval application for Phase 2 data recording.</a:t>
            </a:r>
            <a:endParaRPr lang="en-US" sz="1300" dirty="0"/>
          </a:p>
        </p:txBody>
      </p:sp>
      <p:sp>
        <p:nvSpPr>
          <p:cNvPr id="12" name="Shape 10"/>
          <p:cNvSpPr/>
          <p:nvPr/>
        </p:nvSpPr>
        <p:spPr>
          <a:xfrm>
            <a:off x="7589520" y="1572768"/>
            <a:ext cx="4023360" cy="2231136"/>
          </a:xfrm>
          <a:prstGeom prst="roundRect">
            <a:avLst>
              <a:gd name="adj" fmla="val 3279"/>
            </a:avLst>
          </a:prstGeom>
          <a:solidFill>
            <a:srgbClr val="3A1620"/>
          </a:solidFill>
          <a:ln w="9525">
            <a:solidFill>
              <a:srgbClr val="6B2733"/>
            </a:solidFill>
            <a:prstDash val="solid"/>
          </a:ln>
        </p:spPr>
      </p:sp>
      <p:sp>
        <p:nvSpPr>
          <p:cNvPr id="13" name="Text 11"/>
          <p:cNvSpPr txBox="1"/>
          <p:nvPr/>
        </p:nvSpPr>
        <p:spPr>
          <a:xfrm>
            <a:off x="7863840" y="1773936"/>
            <a:ext cx="3566160" cy="274320"/>
          </a:xfrm>
          <a:prstGeom prst="rect">
            <a:avLst/>
          </a:prstGeom>
          <a:noFill/>
          <a:ln/>
        </p:spPr>
        <p:txBody>
          <a:bodyPr wrap="square" lIns="0" tIns="0" rIns="0" bIns="0" rtlCol="0" anchor="ctr"/>
          <a:lstStyle/>
          <a:p>
            <a:pPr indent="0" marL="0">
              <a:buNone/>
            </a:pPr>
            <a:r>
              <a:rPr lang="en-US" sz="1100" b="1" spc="100" kern="0" dirty="0">
                <a:solidFill>
                  <a:srgbClr val="FF9AA6"/>
                </a:solidFill>
                <a:latin typeface="Calibri" pitchFamily="34" charset="0"/>
                <a:ea typeface="Calibri" pitchFamily="34" charset="-122"/>
                <a:cs typeface="Calibri" pitchFamily="34" charset="-120"/>
              </a:rPr>
              <a:t>PRINCIPAL RISKS</a:t>
            </a:r>
            <a:endParaRPr lang="en-US" sz="1100" dirty="0"/>
          </a:p>
        </p:txBody>
      </p:sp>
      <p:sp>
        <p:nvSpPr>
          <p:cNvPr id="14" name="Text 12"/>
          <p:cNvSpPr txBox="1"/>
          <p:nvPr/>
        </p:nvSpPr>
        <p:spPr>
          <a:xfrm>
            <a:off x="7863840" y="2139696"/>
            <a:ext cx="3566160" cy="155448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FFD8DD"/>
                </a:solidFill>
                <a:latin typeface="Calibri" pitchFamily="34" charset="0"/>
                <a:ea typeface="Calibri" pitchFamily="34" charset="-122"/>
                <a:cs typeface="Calibri" pitchFamily="34" charset="-120"/>
              </a:rPr>
              <a:t>Training hardware is not yet settled</a:t>
            </a:r>
            <a:endParaRPr lang="en-US" sz="1250" dirty="0"/>
          </a:p>
          <a:p>
            <a:pPr marL="342900" indent="-342900">
              <a:spcAft>
                <a:spcPts val="900"/>
              </a:spcAft>
              <a:buSzPct val="100000"/>
              <a:buChar char="•"/>
            </a:pPr>
            <a:r>
              <a:rPr lang="en-US" sz="1250" dirty="0">
                <a:solidFill>
                  <a:srgbClr val="FFD8DD"/>
                </a:solidFill>
                <a:latin typeface="Calibri" pitchFamily="34" charset="0"/>
                <a:ea typeface="Calibri" pitchFamily="34" charset="-122"/>
                <a:cs typeface="Calibri" pitchFamily="34" charset="-120"/>
              </a:rPr>
              <a:t>Ethics approval may take several months</a:t>
            </a:r>
            <a:endParaRPr lang="en-US" sz="1250" dirty="0"/>
          </a:p>
          <a:p>
            <a:pPr marL="342900" indent="-342900">
              <a:spcAft>
                <a:spcPts val="900"/>
              </a:spcAft>
              <a:buSzPct val="100000"/>
              <a:buChar char="•"/>
            </a:pPr>
            <a:r>
              <a:rPr lang="en-US" sz="1250" dirty="0">
                <a:solidFill>
                  <a:srgbClr val="FFD8DD"/>
                </a:solidFill>
                <a:latin typeface="Calibri" pitchFamily="34" charset="0"/>
                <a:ea typeface="Calibri" pitchFamily="34" charset="-122"/>
                <a:cs typeface="Calibri" pitchFamily="34" charset="-120"/>
              </a:rPr>
              <a:t>Pose stream toolchain is awkward to install</a:t>
            </a:r>
            <a:endParaRPr lang="en-US" sz="1250" dirty="0"/>
          </a:p>
        </p:txBody>
      </p:sp>
      <p:sp>
        <p:nvSpPr>
          <p:cNvPr id="15" name="Text 13"/>
          <p:cNvSpPr txBox="1"/>
          <p:nvPr/>
        </p:nvSpPr>
        <p:spPr>
          <a:xfrm>
            <a:off x="566928" y="4892040"/>
            <a:ext cx="54864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Thank you</a:t>
            </a:r>
            <a:endParaRPr lang="en-US" sz="2800" dirty="0"/>
          </a:p>
        </p:txBody>
      </p:sp>
      <p:sp>
        <p:nvSpPr>
          <p:cNvPr id="16" name="Text 14"/>
          <p:cNvSpPr txBox="1"/>
          <p:nvPr/>
        </p:nvSpPr>
        <p:spPr>
          <a:xfrm>
            <a:off x="566928" y="5440680"/>
            <a:ext cx="5486400" cy="36576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Questions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Temporal Action Detection for Distress Hand Signals</dc:title>
  <dc:subject>PptxGenJS Presentation</dc:subject>
  <dc:creator/>
  <cp:lastModifiedBy/>
  <cp:revision>1</cp:revision>
  <dcterms:created xsi:type="dcterms:W3CDTF">2026-10-03T09:14:15Z</dcterms:created>
  <dcterms:modified xsi:type="dcterms:W3CDTF">2026-10-03T09:14:15Z</dcterms:modified>
</cp:coreProperties>
</file>